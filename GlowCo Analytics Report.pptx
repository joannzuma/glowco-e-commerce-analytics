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3601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B4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847A"/>
          </a:solidFill>
          <a:ln w="12700">
            <a:solidFill>
              <a:srgbClr val="C9847A"/>
            </a:solidFill>
            <a:prstDash val="solid"/>
          </a:ln>
        </p:spPr>
      </p:sp>
      <p:sp>
        <p:nvSpPr>
          <p:cNvPr id="3" name="Shape 1"/>
          <p:cNvSpPr/>
          <p:nvPr/>
        </p:nvSpPr>
        <p:spPr>
          <a:xfrm>
            <a:off x="6583680" y="-1097280"/>
            <a:ext cx="4114800" cy="4114800"/>
          </a:xfrm>
          <a:prstGeom prst="ellipse">
            <a:avLst/>
          </a:prstGeom>
          <a:solidFill>
            <a:srgbClr val="6B4F7A"/>
          </a:solidFill>
          <a:ln w="12700">
            <a:solidFill>
              <a:srgbClr val="6B4F7A"/>
            </a:solidFill>
            <a:prstDash val="solid"/>
          </a:ln>
        </p:spPr>
      </p:sp>
      <p:sp>
        <p:nvSpPr>
          <p:cNvPr id="4" name="Shape 2"/>
          <p:cNvSpPr/>
          <p:nvPr/>
        </p:nvSpPr>
        <p:spPr>
          <a:xfrm>
            <a:off x="7772400" y="3474720"/>
            <a:ext cx="2011680" cy="2011680"/>
          </a:xfrm>
          <a:prstGeom prst="ellipse">
            <a:avLst/>
          </a:prstGeom>
          <a:solidFill>
            <a:srgbClr val="C9847A"/>
          </a:solidFill>
          <a:ln w="12700">
            <a:solidFill>
              <a:srgbClr val="C9847A"/>
            </a:solidFill>
            <a:prstDash val="solid"/>
          </a:ln>
        </p:spPr>
      </p:sp>
      <p:sp>
        <p:nvSpPr>
          <p:cNvPr id="5" name="Shape 3"/>
          <p:cNvSpPr/>
          <p:nvPr/>
        </p:nvSpPr>
        <p:spPr>
          <a:xfrm>
            <a:off x="6217920" y="2926080"/>
            <a:ext cx="822960" cy="822960"/>
          </a:xfrm>
          <a:prstGeom prst="ellipse">
            <a:avLst/>
          </a:prstGeom>
          <a:solidFill>
            <a:srgbClr val="C9A84C"/>
          </a:solidFill>
          <a:ln w="12700">
            <a:solidFill>
              <a:srgbClr val="C9A84C"/>
            </a:solidFill>
            <a:prstDash val="solid"/>
          </a:ln>
        </p:spPr>
      </p:sp>
      <p:sp>
        <p:nvSpPr>
          <p:cNvPr id="6" name="Text 4"/>
          <p:cNvSpPr/>
          <p:nvPr/>
        </p:nvSpPr>
        <p:spPr>
          <a:xfrm>
            <a:off x="411480" y="914400"/>
            <a:ext cx="4572000" cy="274320"/>
          </a:xfrm>
          <a:prstGeom prst="rect">
            <a:avLst/>
          </a:prstGeom>
          <a:noFill/>
          <a:ln/>
        </p:spPr>
        <p:txBody>
          <a:bodyPr wrap="square" lIns="0" tIns="0" rIns="0" bIns="0" rtlCol="0" anchor="ctr"/>
          <a:lstStyle/>
          <a:p>
            <a:pPr marL="0" indent="0">
              <a:buNone/>
            </a:pPr>
            <a:r>
              <a:rPr lang="en-US" sz="900" b="1" kern="0" spc="400" dirty="0">
                <a:solidFill>
                  <a:srgbClr val="C9847A"/>
                </a:solidFill>
                <a:latin typeface="Calibri" pitchFamily="34" charset="0"/>
                <a:ea typeface="Calibri" pitchFamily="34" charset="-122"/>
                <a:cs typeface="Calibri" pitchFamily="34" charset="-120"/>
              </a:rPr>
              <a:t>ANALYTICS REPORT</a:t>
            </a:r>
            <a:endParaRPr lang="en-US" sz="900" dirty="0"/>
          </a:p>
        </p:txBody>
      </p:sp>
      <p:sp>
        <p:nvSpPr>
          <p:cNvPr id="7" name="Text 5"/>
          <p:cNvSpPr/>
          <p:nvPr/>
        </p:nvSpPr>
        <p:spPr>
          <a:xfrm>
            <a:off x="411480" y="1234440"/>
            <a:ext cx="6400800" cy="100584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GlowCo</a:t>
            </a:r>
            <a:endParaRPr lang="en-US" sz="6400" dirty="0"/>
          </a:p>
        </p:txBody>
      </p:sp>
      <p:sp>
        <p:nvSpPr>
          <p:cNvPr id="8" name="Text 6"/>
          <p:cNvSpPr/>
          <p:nvPr/>
        </p:nvSpPr>
        <p:spPr>
          <a:xfrm>
            <a:off x="411480" y="2194560"/>
            <a:ext cx="7315200" cy="640080"/>
          </a:xfrm>
          <a:prstGeom prst="rect">
            <a:avLst/>
          </a:prstGeom>
          <a:noFill/>
          <a:ln/>
        </p:spPr>
        <p:txBody>
          <a:bodyPr wrap="square" lIns="0" tIns="0" rIns="0" bIns="0" rtlCol="0" anchor="ctr"/>
          <a:lstStyle/>
          <a:p>
            <a:pPr marL="0" indent="0">
              <a:buNone/>
            </a:pPr>
            <a:r>
              <a:rPr lang="en-US" sz="2800" i="1" dirty="0">
                <a:solidFill>
                  <a:srgbClr val="E8C9C0"/>
                </a:solidFill>
                <a:latin typeface="Georgia" pitchFamily="34" charset="0"/>
                <a:ea typeface="Georgia" pitchFamily="34" charset="-122"/>
                <a:cs typeface="Georgia" pitchFamily="34" charset="-120"/>
              </a:rPr>
              <a:t>E-Commerce Analytics</a:t>
            </a:r>
            <a:endParaRPr lang="en-US" sz="2800" dirty="0"/>
          </a:p>
        </p:txBody>
      </p:sp>
      <p:sp>
        <p:nvSpPr>
          <p:cNvPr id="9" name="Shape 7"/>
          <p:cNvSpPr/>
          <p:nvPr/>
        </p:nvSpPr>
        <p:spPr>
          <a:xfrm>
            <a:off x="411480" y="2907792"/>
            <a:ext cx="4114800" cy="27432"/>
          </a:xfrm>
          <a:prstGeom prst="rect">
            <a:avLst/>
          </a:prstGeom>
          <a:solidFill>
            <a:srgbClr val="C9847A"/>
          </a:solidFill>
          <a:ln w="12700">
            <a:solidFill>
              <a:srgbClr val="C9847A"/>
            </a:solidFill>
            <a:prstDash val="solid"/>
          </a:ln>
        </p:spPr>
      </p:sp>
      <p:sp>
        <p:nvSpPr>
          <p:cNvPr id="10" name="Text 8"/>
          <p:cNvSpPr/>
          <p:nvPr/>
        </p:nvSpPr>
        <p:spPr>
          <a:xfrm>
            <a:off x="411480" y="3017520"/>
            <a:ext cx="7772400" cy="365760"/>
          </a:xfrm>
          <a:prstGeom prst="rect">
            <a:avLst/>
          </a:prstGeom>
          <a:noFill/>
          <a:ln/>
        </p:spPr>
        <p:txBody>
          <a:bodyPr wrap="square" lIns="0" tIns="0" rIns="0" bIns="0" rtlCol="0" anchor="ctr"/>
          <a:lstStyle/>
          <a:p>
            <a:pPr marL="0" indent="0">
              <a:buNone/>
            </a:pPr>
            <a:r>
              <a:rPr lang="en-US" sz="1200" dirty="0">
                <a:solidFill>
                  <a:srgbClr val="E8C9C0"/>
                </a:solidFill>
                <a:latin typeface="Calibri" pitchFamily="34" charset="0"/>
                <a:ea typeface="Calibri" pitchFamily="34" charset="-122"/>
                <a:cs typeface="Calibri" pitchFamily="34" charset="-120"/>
              </a:rPr>
              <a:t>Sales Performance, Customer Intelligence &amp; Market Insights  |  2023 — 2024</a:t>
            </a:r>
            <a:endParaRPr lang="en-US" sz="1200" dirty="0"/>
          </a:p>
        </p:txBody>
      </p:sp>
      <p:sp>
        <p:nvSpPr>
          <p:cNvPr id="11" name="Text 9"/>
          <p:cNvSpPr/>
          <p:nvPr/>
        </p:nvSpPr>
        <p:spPr>
          <a:xfrm>
            <a:off x="411480" y="4114800"/>
            <a:ext cx="4572000" cy="274320"/>
          </a:xfrm>
          <a:prstGeom prst="rect">
            <a:avLst/>
          </a:prstGeom>
          <a:noFill/>
          <a:ln/>
        </p:spPr>
        <p:txBody>
          <a:bodyPr wrap="square" lIns="0" tIns="0" rIns="0" bIns="0" rtlCol="0" anchor="ctr"/>
          <a:lstStyle/>
          <a:p>
            <a:pPr marL="0" indent="0">
              <a:buNone/>
            </a:pPr>
            <a:r>
              <a:rPr lang="en-US" sz="1100" dirty="0">
                <a:solidFill>
                  <a:srgbClr val="E8C9C0"/>
                </a:solidFill>
                <a:latin typeface="Calibri" pitchFamily="34" charset="0"/>
                <a:ea typeface="Calibri" pitchFamily="34" charset="-122"/>
                <a:cs typeface="Calibri" pitchFamily="34" charset="-120"/>
              </a:rPr>
              <a:t>Prepared by  </a:t>
            </a:r>
            <a:r>
              <a:rPr lang="en-US" sz="1100" b="1" dirty="0">
                <a:solidFill>
                  <a:srgbClr val="FFFFFF"/>
                </a:solidFill>
                <a:latin typeface="Calibri" pitchFamily="34" charset="0"/>
                <a:ea typeface="Calibri" pitchFamily="34" charset="-122"/>
                <a:cs typeface="Calibri" pitchFamily="34" charset="-120"/>
              </a:rPr>
              <a:t>Joan Nzuma</a:t>
            </a:r>
            <a:endParaRPr lang="en-US" sz="1100" dirty="0"/>
          </a:p>
        </p:txBody>
      </p:sp>
      <p:sp>
        <p:nvSpPr>
          <p:cNvPr id="12" name="Text 10"/>
          <p:cNvSpPr/>
          <p:nvPr/>
        </p:nvSpPr>
        <p:spPr>
          <a:xfrm>
            <a:off x="411480" y="4434840"/>
            <a:ext cx="2743200" cy="274320"/>
          </a:xfrm>
          <a:prstGeom prst="rect">
            <a:avLst/>
          </a:prstGeom>
          <a:noFill/>
          <a:ln/>
        </p:spPr>
        <p:txBody>
          <a:bodyPr wrap="square" lIns="0" tIns="0" rIns="0" bIns="0" rtlCol="0" anchor="ctr"/>
          <a:lstStyle/>
          <a:p>
            <a:pPr marL="0" indent="0">
              <a:buNone/>
            </a:pPr>
            <a:r>
              <a:rPr lang="en-US" sz="1000" dirty="0">
                <a:solidFill>
                  <a:srgbClr val="C9847A"/>
                </a:solidFill>
                <a:latin typeface="Calibri" pitchFamily="34" charset="0"/>
                <a:ea typeface="Calibri" pitchFamily="34" charset="-122"/>
                <a:cs typeface="Calibri" pitchFamily="34" charset="-120"/>
              </a:rPr>
              <a:t>May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3D2B4F"/>
          </a:solidFill>
          <a:ln w="12700">
            <a:solidFill>
              <a:srgbClr val="3D2B4F"/>
            </a:solidFill>
            <a:prstDash val="solid"/>
          </a:ln>
        </p:spPr>
      </p:sp>
      <p:sp>
        <p:nvSpPr>
          <p:cNvPr id="3" name="Text 1"/>
          <p:cNvSpPr/>
          <p:nvPr/>
        </p:nvSpPr>
        <p:spPr>
          <a:xfrm>
            <a:off x="274320" y="1371600"/>
            <a:ext cx="2651760" cy="164592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TABLE OF</a:t>
            </a:r>
            <a:endParaRPr lang="en-US" sz="2800" dirty="0"/>
          </a:p>
          <a:p>
            <a:pPr marL="0" indent="0" algn="l">
              <a:buNone/>
            </a:pPr>
            <a:r>
              <a:rPr lang="en-US" sz="2800" b="1" dirty="0">
                <a:solidFill>
                  <a:srgbClr val="FFFFFF"/>
                </a:solidFill>
                <a:latin typeface="Georgia" pitchFamily="34" charset="0"/>
                <a:ea typeface="Georgia" pitchFamily="34" charset="-122"/>
                <a:cs typeface="Georgia" pitchFamily="34" charset="-120"/>
              </a:rPr>
              <a:t>CONTENTS</a:t>
            </a:r>
            <a:endParaRPr lang="en-US" sz="2800" dirty="0"/>
          </a:p>
        </p:txBody>
      </p:sp>
      <p:sp>
        <p:nvSpPr>
          <p:cNvPr id="4" name="Shape 2"/>
          <p:cNvSpPr/>
          <p:nvPr/>
        </p:nvSpPr>
        <p:spPr>
          <a:xfrm>
            <a:off x="274320" y="3108960"/>
            <a:ext cx="1371600" cy="36576"/>
          </a:xfrm>
          <a:prstGeom prst="rect">
            <a:avLst/>
          </a:prstGeom>
          <a:solidFill>
            <a:srgbClr val="C9847A"/>
          </a:solidFill>
          <a:ln w="12700">
            <a:solidFill>
              <a:srgbClr val="C9847A"/>
            </a:solidFill>
            <a:prstDash val="solid"/>
          </a:ln>
        </p:spPr>
      </p:sp>
      <p:sp>
        <p:nvSpPr>
          <p:cNvPr id="5" name="Text 3"/>
          <p:cNvSpPr/>
          <p:nvPr/>
        </p:nvSpPr>
        <p:spPr>
          <a:xfrm>
            <a:off x="274320" y="3246120"/>
            <a:ext cx="2651760" cy="548640"/>
          </a:xfrm>
          <a:prstGeom prst="rect">
            <a:avLst/>
          </a:prstGeom>
          <a:noFill/>
          <a:ln/>
        </p:spPr>
        <p:txBody>
          <a:bodyPr wrap="square" lIns="0" tIns="0" rIns="0" bIns="0" rtlCol="0" anchor="ctr"/>
          <a:lstStyle/>
          <a:p>
            <a:pPr marL="0" indent="0">
              <a:buNone/>
            </a:pPr>
            <a:r>
              <a:rPr lang="en-US" sz="1000" i="1" dirty="0">
                <a:solidFill>
                  <a:srgbClr val="E8C9C0"/>
                </a:solidFill>
                <a:latin typeface="Calibri" pitchFamily="34" charset="0"/>
                <a:ea typeface="Calibri" pitchFamily="34" charset="-122"/>
                <a:cs typeface="Calibri" pitchFamily="34" charset="-120"/>
              </a:rPr>
              <a:t>GlowCo Analytics</a:t>
            </a:r>
            <a:endParaRPr lang="en-US" sz="1000" dirty="0"/>
          </a:p>
          <a:p>
            <a:pPr marL="0" indent="0">
              <a:buNone/>
            </a:pPr>
            <a:r>
              <a:rPr lang="en-US" sz="1000" i="1" dirty="0">
                <a:solidFill>
                  <a:srgbClr val="E8C9C0"/>
                </a:solidFill>
                <a:latin typeface="Calibri" pitchFamily="34" charset="0"/>
                <a:ea typeface="Calibri" pitchFamily="34" charset="-122"/>
                <a:cs typeface="Calibri" pitchFamily="34" charset="-120"/>
              </a:rPr>
              <a:t>2023 — 2024</a:t>
            </a:r>
            <a:endParaRPr lang="en-US" sz="1000" dirty="0"/>
          </a:p>
        </p:txBody>
      </p:sp>
      <p:sp>
        <p:nvSpPr>
          <p:cNvPr id="6" name="Shape 4"/>
          <p:cNvSpPr/>
          <p:nvPr/>
        </p:nvSpPr>
        <p:spPr>
          <a:xfrm>
            <a:off x="3474720" y="502920"/>
            <a:ext cx="5394960" cy="713232"/>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7" name="Text 5"/>
          <p:cNvSpPr/>
          <p:nvPr/>
        </p:nvSpPr>
        <p:spPr>
          <a:xfrm>
            <a:off x="3611880" y="594360"/>
            <a:ext cx="502920" cy="502920"/>
          </a:xfrm>
          <a:prstGeom prst="rect">
            <a:avLst/>
          </a:prstGeom>
          <a:noFill/>
          <a:ln/>
        </p:spPr>
        <p:txBody>
          <a:bodyPr wrap="square" lIns="0" tIns="0" rIns="0" bIns="0" rtlCol="0" anchor="ctr"/>
          <a:lstStyle/>
          <a:p>
            <a:pPr marL="0" indent="0">
              <a:buNone/>
            </a:pPr>
            <a:r>
              <a:rPr lang="en-US" sz="2200" b="1" dirty="0">
                <a:solidFill>
                  <a:srgbClr val="C9847A"/>
                </a:solidFill>
                <a:latin typeface="Georgia" pitchFamily="34" charset="0"/>
                <a:ea typeface="Georgia" pitchFamily="34" charset="-122"/>
                <a:cs typeface="Georgia" pitchFamily="34" charset="-120"/>
              </a:rPr>
              <a:t>01</a:t>
            </a:r>
            <a:endParaRPr lang="en-US" sz="2200" dirty="0"/>
          </a:p>
        </p:txBody>
      </p:sp>
      <p:sp>
        <p:nvSpPr>
          <p:cNvPr id="8" name="Shape 6"/>
          <p:cNvSpPr/>
          <p:nvPr/>
        </p:nvSpPr>
        <p:spPr>
          <a:xfrm>
            <a:off x="4187952" y="640080"/>
            <a:ext cx="27432" cy="438912"/>
          </a:xfrm>
          <a:prstGeom prst="rect">
            <a:avLst/>
          </a:prstGeom>
          <a:solidFill>
            <a:srgbClr val="E8C9C0"/>
          </a:solidFill>
          <a:ln w="12700">
            <a:solidFill>
              <a:srgbClr val="E8C9C0"/>
            </a:solidFill>
            <a:prstDash val="solid"/>
          </a:ln>
        </p:spPr>
      </p:sp>
      <p:sp>
        <p:nvSpPr>
          <p:cNvPr id="9" name="Text 7"/>
          <p:cNvSpPr/>
          <p:nvPr/>
        </p:nvSpPr>
        <p:spPr>
          <a:xfrm>
            <a:off x="4315968" y="576072"/>
            <a:ext cx="4297680" cy="274320"/>
          </a:xfrm>
          <a:prstGeom prst="rect">
            <a:avLst/>
          </a:prstGeom>
          <a:noFill/>
          <a:ln/>
        </p:spPr>
        <p:txBody>
          <a:bodyPr wrap="square" lIns="0" tIns="0" rIns="0" bIns="0" rtlCol="0" anchor="ctr"/>
          <a:lstStyle/>
          <a:p>
            <a:pPr marL="0" indent="0">
              <a:buNone/>
            </a:pPr>
            <a:r>
              <a:rPr lang="en-US" sz="1300" b="1" dirty="0">
                <a:solidFill>
                  <a:srgbClr val="3D2B4F"/>
                </a:solidFill>
                <a:latin typeface="Calibri" pitchFamily="34" charset="0"/>
                <a:ea typeface="Calibri" pitchFamily="34" charset="-122"/>
                <a:cs typeface="Calibri" pitchFamily="34" charset="-120"/>
              </a:rPr>
              <a:t>Problem Statement</a:t>
            </a:r>
            <a:endParaRPr lang="en-US" sz="1300" dirty="0"/>
          </a:p>
        </p:txBody>
      </p:sp>
      <p:sp>
        <p:nvSpPr>
          <p:cNvPr id="10" name="Text 8"/>
          <p:cNvSpPr/>
          <p:nvPr/>
        </p:nvSpPr>
        <p:spPr>
          <a:xfrm>
            <a:off x="4315968" y="868680"/>
            <a:ext cx="4297680" cy="228600"/>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Business context &amp; challenge</a:t>
            </a:r>
            <a:endParaRPr lang="en-US" sz="1000" dirty="0"/>
          </a:p>
        </p:txBody>
      </p:sp>
      <p:sp>
        <p:nvSpPr>
          <p:cNvPr id="11" name="Shape 9"/>
          <p:cNvSpPr/>
          <p:nvPr/>
        </p:nvSpPr>
        <p:spPr>
          <a:xfrm>
            <a:off x="3474720" y="1353312"/>
            <a:ext cx="5394960" cy="713232"/>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2" name="Text 10"/>
          <p:cNvSpPr/>
          <p:nvPr/>
        </p:nvSpPr>
        <p:spPr>
          <a:xfrm>
            <a:off x="3611880" y="1444752"/>
            <a:ext cx="502920" cy="502920"/>
          </a:xfrm>
          <a:prstGeom prst="rect">
            <a:avLst/>
          </a:prstGeom>
          <a:noFill/>
          <a:ln/>
        </p:spPr>
        <p:txBody>
          <a:bodyPr wrap="square" lIns="0" tIns="0" rIns="0" bIns="0" rtlCol="0" anchor="ctr"/>
          <a:lstStyle/>
          <a:p>
            <a:pPr marL="0" indent="0">
              <a:buNone/>
            </a:pPr>
            <a:r>
              <a:rPr lang="en-US" sz="2200" b="1" dirty="0">
                <a:solidFill>
                  <a:srgbClr val="C9847A"/>
                </a:solidFill>
                <a:latin typeface="Georgia" pitchFamily="34" charset="0"/>
                <a:ea typeface="Georgia" pitchFamily="34" charset="-122"/>
                <a:cs typeface="Georgia" pitchFamily="34" charset="-120"/>
              </a:rPr>
              <a:t>02</a:t>
            </a:r>
            <a:endParaRPr lang="en-US" sz="2200" dirty="0"/>
          </a:p>
        </p:txBody>
      </p:sp>
      <p:sp>
        <p:nvSpPr>
          <p:cNvPr id="13" name="Shape 11"/>
          <p:cNvSpPr/>
          <p:nvPr/>
        </p:nvSpPr>
        <p:spPr>
          <a:xfrm>
            <a:off x="4187952" y="1490472"/>
            <a:ext cx="27432" cy="438912"/>
          </a:xfrm>
          <a:prstGeom prst="rect">
            <a:avLst/>
          </a:prstGeom>
          <a:solidFill>
            <a:srgbClr val="E8C9C0"/>
          </a:solidFill>
          <a:ln w="12700">
            <a:solidFill>
              <a:srgbClr val="E8C9C0"/>
            </a:solidFill>
            <a:prstDash val="solid"/>
          </a:ln>
        </p:spPr>
      </p:sp>
      <p:sp>
        <p:nvSpPr>
          <p:cNvPr id="14" name="Text 12"/>
          <p:cNvSpPr/>
          <p:nvPr/>
        </p:nvSpPr>
        <p:spPr>
          <a:xfrm>
            <a:off x="4315968" y="1426464"/>
            <a:ext cx="4297680" cy="274320"/>
          </a:xfrm>
          <a:prstGeom prst="rect">
            <a:avLst/>
          </a:prstGeom>
          <a:noFill/>
          <a:ln/>
        </p:spPr>
        <p:txBody>
          <a:bodyPr wrap="square" lIns="0" tIns="0" rIns="0" bIns="0" rtlCol="0" anchor="ctr"/>
          <a:lstStyle/>
          <a:p>
            <a:pPr marL="0" indent="0">
              <a:buNone/>
            </a:pPr>
            <a:r>
              <a:rPr lang="en-US" sz="1300" b="1" dirty="0">
                <a:solidFill>
                  <a:srgbClr val="3D2B4F"/>
                </a:solidFill>
                <a:latin typeface="Calibri" pitchFamily="34" charset="0"/>
                <a:ea typeface="Calibri" pitchFamily="34" charset="-122"/>
                <a:cs typeface="Calibri" pitchFamily="34" charset="-120"/>
              </a:rPr>
              <a:t>Objectives</a:t>
            </a:r>
            <a:endParaRPr lang="en-US" sz="1300" dirty="0"/>
          </a:p>
        </p:txBody>
      </p:sp>
      <p:sp>
        <p:nvSpPr>
          <p:cNvPr id="15" name="Text 13"/>
          <p:cNvSpPr/>
          <p:nvPr/>
        </p:nvSpPr>
        <p:spPr>
          <a:xfrm>
            <a:off x="4315968" y="1719072"/>
            <a:ext cx="4297680" cy="228600"/>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Goals of this analysis</a:t>
            </a:r>
            <a:endParaRPr lang="en-US" sz="1000" dirty="0"/>
          </a:p>
        </p:txBody>
      </p:sp>
      <p:sp>
        <p:nvSpPr>
          <p:cNvPr id="16" name="Shape 14"/>
          <p:cNvSpPr/>
          <p:nvPr/>
        </p:nvSpPr>
        <p:spPr>
          <a:xfrm>
            <a:off x="3474720" y="2203704"/>
            <a:ext cx="5394960" cy="713232"/>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7" name="Text 15"/>
          <p:cNvSpPr/>
          <p:nvPr/>
        </p:nvSpPr>
        <p:spPr>
          <a:xfrm>
            <a:off x="3611880" y="2295144"/>
            <a:ext cx="502920" cy="502920"/>
          </a:xfrm>
          <a:prstGeom prst="rect">
            <a:avLst/>
          </a:prstGeom>
          <a:noFill/>
          <a:ln/>
        </p:spPr>
        <p:txBody>
          <a:bodyPr wrap="square" lIns="0" tIns="0" rIns="0" bIns="0" rtlCol="0" anchor="ctr"/>
          <a:lstStyle/>
          <a:p>
            <a:pPr marL="0" indent="0">
              <a:buNone/>
            </a:pPr>
            <a:r>
              <a:rPr lang="en-US" sz="2200" b="1" dirty="0">
                <a:solidFill>
                  <a:srgbClr val="C9847A"/>
                </a:solidFill>
                <a:latin typeface="Georgia" pitchFamily="34" charset="0"/>
                <a:ea typeface="Georgia" pitchFamily="34" charset="-122"/>
                <a:cs typeface="Georgia" pitchFamily="34" charset="-120"/>
              </a:rPr>
              <a:t>03</a:t>
            </a:r>
            <a:endParaRPr lang="en-US" sz="2200" dirty="0"/>
          </a:p>
        </p:txBody>
      </p:sp>
      <p:sp>
        <p:nvSpPr>
          <p:cNvPr id="18" name="Shape 16"/>
          <p:cNvSpPr/>
          <p:nvPr/>
        </p:nvSpPr>
        <p:spPr>
          <a:xfrm>
            <a:off x="4187952" y="2340864"/>
            <a:ext cx="27432" cy="438912"/>
          </a:xfrm>
          <a:prstGeom prst="rect">
            <a:avLst/>
          </a:prstGeom>
          <a:solidFill>
            <a:srgbClr val="E8C9C0"/>
          </a:solidFill>
          <a:ln w="12700">
            <a:solidFill>
              <a:srgbClr val="E8C9C0"/>
            </a:solidFill>
            <a:prstDash val="solid"/>
          </a:ln>
        </p:spPr>
      </p:sp>
      <p:sp>
        <p:nvSpPr>
          <p:cNvPr id="19" name="Text 17"/>
          <p:cNvSpPr/>
          <p:nvPr/>
        </p:nvSpPr>
        <p:spPr>
          <a:xfrm>
            <a:off x="4315968" y="2276856"/>
            <a:ext cx="4297680" cy="274320"/>
          </a:xfrm>
          <a:prstGeom prst="rect">
            <a:avLst/>
          </a:prstGeom>
          <a:noFill/>
          <a:ln/>
        </p:spPr>
        <p:txBody>
          <a:bodyPr wrap="square" lIns="0" tIns="0" rIns="0" bIns="0" rtlCol="0" anchor="ctr"/>
          <a:lstStyle/>
          <a:p>
            <a:pPr marL="0" indent="0">
              <a:buNone/>
            </a:pPr>
            <a:r>
              <a:rPr lang="en-US" sz="1300" b="1" dirty="0">
                <a:solidFill>
                  <a:srgbClr val="3D2B4F"/>
                </a:solidFill>
                <a:latin typeface="Calibri" pitchFamily="34" charset="0"/>
                <a:ea typeface="Calibri" pitchFamily="34" charset="-122"/>
                <a:cs typeface="Calibri" pitchFamily="34" charset="-120"/>
              </a:rPr>
              <a:t>Sales Overview</a:t>
            </a:r>
            <a:endParaRPr lang="en-US" sz="1300" dirty="0"/>
          </a:p>
        </p:txBody>
      </p:sp>
      <p:sp>
        <p:nvSpPr>
          <p:cNvPr id="20" name="Text 18"/>
          <p:cNvSpPr/>
          <p:nvPr/>
        </p:nvSpPr>
        <p:spPr>
          <a:xfrm>
            <a:off x="4315968" y="2569464"/>
            <a:ext cx="4297680" cy="228600"/>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Revenue, orders &amp; category performance</a:t>
            </a:r>
            <a:endParaRPr lang="en-US" sz="1000" dirty="0"/>
          </a:p>
        </p:txBody>
      </p:sp>
      <p:sp>
        <p:nvSpPr>
          <p:cNvPr id="21" name="Shape 19"/>
          <p:cNvSpPr/>
          <p:nvPr/>
        </p:nvSpPr>
        <p:spPr>
          <a:xfrm>
            <a:off x="3474720" y="3054096"/>
            <a:ext cx="5394960" cy="713232"/>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2" name="Text 20"/>
          <p:cNvSpPr/>
          <p:nvPr/>
        </p:nvSpPr>
        <p:spPr>
          <a:xfrm>
            <a:off x="3611880" y="3145536"/>
            <a:ext cx="502920" cy="502920"/>
          </a:xfrm>
          <a:prstGeom prst="rect">
            <a:avLst/>
          </a:prstGeom>
          <a:noFill/>
          <a:ln/>
        </p:spPr>
        <p:txBody>
          <a:bodyPr wrap="square" lIns="0" tIns="0" rIns="0" bIns="0" rtlCol="0" anchor="ctr"/>
          <a:lstStyle/>
          <a:p>
            <a:pPr marL="0" indent="0">
              <a:buNone/>
            </a:pPr>
            <a:r>
              <a:rPr lang="en-US" sz="2200" b="1" dirty="0">
                <a:solidFill>
                  <a:srgbClr val="C9847A"/>
                </a:solidFill>
                <a:latin typeface="Georgia" pitchFamily="34" charset="0"/>
                <a:ea typeface="Georgia" pitchFamily="34" charset="-122"/>
                <a:cs typeface="Georgia" pitchFamily="34" charset="-120"/>
              </a:rPr>
              <a:t>04</a:t>
            </a:r>
            <a:endParaRPr lang="en-US" sz="2200" dirty="0"/>
          </a:p>
        </p:txBody>
      </p:sp>
      <p:sp>
        <p:nvSpPr>
          <p:cNvPr id="23" name="Shape 21"/>
          <p:cNvSpPr/>
          <p:nvPr/>
        </p:nvSpPr>
        <p:spPr>
          <a:xfrm>
            <a:off x="4187952" y="3191256"/>
            <a:ext cx="27432" cy="438912"/>
          </a:xfrm>
          <a:prstGeom prst="rect">
            <a:avLst/>
          </a:prstGeom>
          <a:solidFill>
            <a:srgbClr val="E8C9C0"/>
          </a:solidFill>
          <a:ln w="12700">
            <a:solidFill>
              <a:srgbClr val="E8C9C0"/>
            </a:solidFill>
            <a:prstDash val="solid"/>
          </a:ln>
        </p:spPr>
      </p:sp>
      <p:sp>
        <p:nvSpPr>
          <p:cNvPr id="24" name="Text 22"/>
          <p:cNvSpPr/>
          <p:nvPr/>
        </p:nvSpPr>
        <p:spPr>
          <a:xfrm>
            <a:off x="4315968" y="3127248"/>
            <a:ext cx="4297680" cy="274320"/>
          </a:xfrm>
          <a:prstGeom prst="rect">
            <a:avLst/>
          </a:prstGeom>
          <a:noFill/>
          <a:ln/>
        </p:spPr>
        <p:txBody>
          <a:bodyPr wrap="square" lIns="0" tIns="0" rIns="0" bIns="0" rtlCol="0" anchor="ctr"/>
          <a:lstStyle/>
          <a:p>
            <a:pPr marL="0" indent="0">
              <a:buNone/>
            </a:pPr>
            <a:r>
              <a:rPr lang="en-US" sz="1300" b="1" dirty="0">
                <a:solidFill>
                  <a:srgbClr val="3D2B4F"/>
                </a:solidFill>
                <a:latin typeface="Calibri" pitchFamily="34" charset="0"/>
                <a:ea typeface="Calibri" pitchFamily="34" charset="-122"/>
                <a:cs typeface="Calibri" pitchFamily="34" charset="-120"/>
              </a:rPr>
              <a:t>Customer &amp; Market Intelligence</a:t>
            </a:r>
            <a:endParaRPr lang="en-US" sz="1300" dirty="0"/>
          </a:p>
        </p:txBody>
      </p:sp>
      <p:sp>
        <p:nvSpPr>
          <p:cNvPr id="25" name="Text 23"/>
          <p:cNvSpPr/>
          <p:nvPr/>
        </p:nvSpPr>
        <p:spPr>
          <a:xfrm>
            <a:off x="4315968" y="3419856"/>
            <a:ext cx="4297680" cy="228600"/>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Segments, channels &amp; global reach</a:t>
            </a:r>
            <a:endParaRPr lang="en-US" sz="1000" dirty="0"/>
          </a:p>
        </p:txBody>
      </p:sp>
      <p:sp>
        <p:nvSpPr>
          <p:cNvPr id="26" name="Shape 24"/>
          <p:cNvSpPr/>
          <p:nvPr/>
        </p:nvSpPr>
        <p:spPr>
          <a:xfrm>
            <a:off x="3474720" y="3904488"/>
            <a:ext cx="5394960" cy="713232"/>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7" name="Text 25"/>
          <p:cNvSpPr/>
          <p:nvPr/>
        </p:nvSpPr>
        <p:spPr>
          <a:xfrm>
            <a:off x="3611880" y="3995928"/>
            <a:ext cx="502920" cy="502920"/>
          </a:xfrm>
          <a:prstGeom prst="rect">
            <a:avLst/>
          </a:prstGeom>
          <a:noFill/>
          <a:ln/>
        </p:spPr>
        <p:txBody>
          <a:bodyPr wrap="square" lIns="0" tIns="0" rIns="0" bIns="0" rtlCol="0" anchor="ctr"/>
          <a:lstStyle/>
          <a:p>
            <a:pPr marL="0" indent="0">
              <a:buNone/>
            </a:pPr>
            <a:r>
              <a:rPr lang="en-US" sz="2200" b="1" dirty="0">
                <a:solidFill>
                  <a:srgbClr val="C9847A"/>
                </a:solidFill>
                <a:latin typeface="Georgia" pitchFamily="34" charset="0"/>
                <a:ea typeface="Georgia" pitchFamily="34" charset="-122"/>
                <a:cs typeface="Georgia" pitchFamily="34" charset="-120"/>
              </a:rPr>
              <a:t>05</a:t>
            </a:r>
            <a:endParaRPr lang="en-US" sz="2200" dirty="0"/>
          </a:p>
        </p:txBody>
      </p:sp>
      <p:sp>
        <p:nvSpPr>
          <p:cNvPr id="28" name="Shape 26"/>
          <p:cNvSpPr/>
          <p:nvPr/>
        </p:nvSpPr>
        <p:spPr>
          <a:xfrm>
            <a:off x="4187952" y="4041648"/>
            <a:ext cx="27432" cy="438912"/>
          </a:xfrm>
          <a:prstGeom prst="rect">
            <a:avLst/>
          </a:prstGeom>
          <a:solidFill>
            <a:srgbClr val="E8C9C0"/>
          </a:solidFill>
          <a:ln w="12700">
            <a:solidFill>
              <a:srgbClr val="E8C9C0"/>
            </a:solidFill>
            <a:prstDash val="solid"/>
          </a:ln>
        </p:spPr>
      </p:sp>
      <p:sp>
        <p:nvSpPr>
          <p:cNvPr id="29" name="Text 27"/>
          <p:cNvSpPr/>
          <p:nvPr/>
        </p:nvSpPr>
        <p:spPr>
          <a:xfrm>
            <a:off x="4315968" y="3977640"/>
            <a:ext cx="4297680" cy="274320"/>
          </a:xfrm>
          <a:prstGeom prst="rect">
            <a:avLst/>
          </a:prstGeom>
          <a:noFill/>
          <a:ln/>
        </p:spPr>
        <p:txBody>
          <a:bodyPr wrap="square" lIns="0" tIns="0" rIns="0" bIns="0" rtlCol="0" anchor="ctr"/>
          <a:lstStyle/>
          <a:p>
            <a:pPr marL="0" indent="0">
              <a:buNone/>
            </a:pPr>
            <a:r>
              <a:rPr lang="en-US" sz="1300" b="1" dirty="0">
                <a:solidFill>
                  <a:srgbClr val="3D2B4F"/>
                </a:solidFill>
                <a:latin typeface="Calibri" pitchFamily="34" charset="0"/>
                <a:ea typeface="Calibri" pitchFamily="34" charset="-122"/>
                <a:cs typeface="Calibri" pitchFamily="34" charset="-120"/>
              </a:rPr>
              <a:t>Key Findings</a:t>
            </a:r>
            <a:endParaRPr lang="en-US" sz="1300" dirty="0"/>
          </a:p>
        </p:txBody>
      </p:sp>
      <p:sp>
        <p:nvSpPr>
          <p:cNvPr id="30" name="Text 28"/>
          <p:cNvSpPr/>
          <p:nvPr/>
        </p:nvSpPr>
        <p:spPr>
          <a:xfrm>
            <a:off x="4315968" y="4270248"/>
            <a:ext cx="4297680" cy="228600"/>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Insights &amp; recommendations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847A"/>
          </a:solidFill>
          <a:ln w="12700">
            <a:solidFill>
              <a:srgbClr val="C9847A"/>
            </a:solidFill>
            <a:prstDash val="solid"/>
          </a:ln>
        </p:spPr>
      </p:sp>
      <p:sp>
        <p:nvSpPr>
          <p:cNvPr id="3" name="Shape 1"/>
          <p:cNvSpPr/>
          <p:nvPr/>
        </p:nvSpPr>
        <p:spPr>
          <a:xfrm>
            <a:off x="0" y="73152"/>
            <a:ext cx="1005840" cy="502920"/>
          </a:xfrm>
          <a:prstGeom prst="rect">
            <a:avLst/>
          </a:prstGeom>
          <a:solidFill>
            <a:srgbClr val="3D2B4F"/>
          </a:solidFill>
          <a:ln w="12700">
            <a:solidFill>
              <a:srgbClr val="3D2B4F"/>
            </a:solidFill>
            <a:prstDash val="solid"/>
          </a:ln>
        </p:spPr>
      </p:sp>
      <p:sp>
        <p:nvSpPr>
          <p:cNvPr id="4" name="Text 2"/>
          <p:cNvSpPr/>
          <p:nvPr/>
        </p:nvSpPr>
        <p:spPr>
          <a:xfrm>
            <a:off x="0" y="73152"/>
            <a:ext cx="1005840" cy="502920"/>
          </a:xfrm>
          <a:prstGeom prst="rect">
            <a:avLst/>
          </a:prstGeom>
          <a:noFill/>
          <a:ln/>
        </p:spPr>
        <p:txBody>
          <a:bodyPr wrap="square" lIns="0" tIns="0" rIns="0" bIns="0" rtlCol="0" anchor="ctr"/>
          <a:lstStyle/>
          <a:p>
            <a:pPr marL="0" indent="0" algn="ctr">
              <a:buNone/>
            </a:pPr>
            <a:r>
              <a:rPr lang="en-US" sz="1800" b="1" dirty="0">
                <a:solidFill>
                  <a:srgbClr val="C9847A"/>
                </a:solidFill>
                <a:latin typeface="Georgia" pitchFamily="34" charset="0"/>
                <a:ea typeface="Georgia" pitchFamily="34" charset="-122"/>
                <a:cs typeface="Georgia" pitchFamily="34" charset="-120"/>
              </a:rPr>
              <a:t>01</a:t>
            </a:r>
            <a:endParaRPr lang="en-US" sz="1800" dirty="0"/>
          </a:p>
        </p:txBody>
      </p:sp>
      <p:sp>
        <p:nvSpPr>
          <p:cNvPr id="5" name="Text 3"/>
          <p:cNvSpPr/>
          <p:nvPr/>
        </p:nvSpPr>
        <p:spPr>
          <a:xfrm>
            <a:off x="1143000" y="109728"/>
            <a:ext cx="7315200" cy="457200"/>
          </a:xfrm>
          <a:prstGeom prst="rect">
            <a:avLst/>
          </a:prstGeom>
          <a:noFill/>
          <a:ln/>
        </p:spPr>
        <p:txBody>
          <a:bodyPr wrap="square" lIns="0" tIns="0" rIns="0" bIns="0" rtlCol="0" anchor="ctr"/>
          <a:lstStyle/>
          <a:p>
            <a:pPr marL="0" indent="0">
              <a:buNone/>
            </a:pPr>
            <a:r>
              <a:rPr lang="en-US" sz="2600" b="1" dirty="0">
                <a:solidFill>
                  <a:srgbClr val="3D2B4F"/>
                </a:solidFill>
                <a:latin typeface="Georgia" pitchFamily="34" charset="0"/>
                <a:ea typeface="Georgia" pitchFamily="34" charset="-122"/>
                <a:cs typeface="Georgia" pitchFamily="34" charset="-120"/>
              </a:rPr>
              <a:t>Problem Statement</a:t>
            </a:r>
            <a:endParaRPr lang="en-US" sz="2600" dirty="0"/>
          </a:p>
        </p:txBody>
      </p:sp>
      <p:sp>
        <p:nvSpPr>
          <p:cNvPr id="6" name="Text 4"/>
          <p:cNvSpPr/>
          <p:nvPr/>
        </p:nvSpPr>
        <p:spPr>
          <a:xfrm>
            <a:off x="274320" y="640080"/>
            <a:ext cx="914400" cy="914400"/>
          </a:xfrm>
          <a:prstGeom prst="rect">
            <a:avLst/>
          </a:prstGeom>
          <a:noFill/>
          <a:ln/>
        </p:spPr>
        <p:txBody>
          <a:bodyPr wrap="square" lIns="0" tIns="0" rIns="0" bIns="0" rtlCol="0" anchor="ctr"/>
          <a:lstStyle/>
          <a:p>
            <a:pPr marL="0" indent="0">
              <a:buNone/>
            </a:pPr>
            <a:r>
              <a:rPr lang="en-US" sz="9600" dirty="0">
                <a:solidFill>
                  <a:srgbClr val="F2DDD9"/>
                </a:solidFill>
                <a:latin typeface="Georgia" pitchFamily="34" charset="0"/>
                <a:ea typeface="Georgia" pitchFamily="34" charset="-122"/>
                <a:cs typeface="Georgia" pitchFamily="34" charset="-120"/>
              </a:rPr>
              <a:t>“</a:t>
            </a:r>
            <a:endParaRPr lang="en-US" sz="9600" dirty="0"/>
          </a:p>
        </p:txBody>
      </p:sp>
      <p:sp>
        <p:nvSpPr>
          <p:cNvPr id="7" name="Shape 5"/>
          <p:cNvSpPr/>
          <p:nvPr/>
        </p:nvSpPr>
        <p:spPr>
          <a:xfrm>
            <a:off x="365760" y="777240"/>
            <a:ext cx="8412480" cy="118872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8" name="Shape 6"/>
          <p:cNvSpPr/>
          <p:nvPr/>
        </p:nvSpPr>
        <p:spPr>
          <a:xfrm>
            <a:off x="365760" y="777240"/>
            <a:ext cx="82296" cy="1188720"/>
          </a:xfrm>
          <a:prstGeom prst="rect">
            <a:avLst/>
          </a:prstGeom>
          <a:solidFill>
            <a:srgbClr val="3D2B4F"/>
          </a:solidFill>
          <a:ln w="12700">
            <a:solidFill>
              <a:srgbClr val="3D2B4F"/>
            </a:solidFill>
            <a:prstDash val="solid"/>
          </a:ln>
        </p:spPr>
      </p:sp>
      <p:sp>
        <p:nvSpPr>
          <p:cNvPr id="9" name="Text 7"/>
          <p:cNvSpPr/>
          <p:nvPr/>
        </p:nvSpPr>
        <p:spPr>
          <a:xfrm>
            <a:off x="594360" y="868680"/>
            <a:ext cx="2743200" cy="256032"/>
          </a:xfrm>
          <a:prstGeom prst="rect">
            <a:avLst/>
          </a:prstGeom>
          <a:noFill/>
          <a:ln/>
        </p:spPr>
        <p:txBody>
          <a:bodyPr wrap="square" lIns="0" tIns="0" rIns="0" bIns="0" rtlCol="0" anchor="ctr"/>
          <a:lstStyle/>
          <a:p>
            <a:pPr marL="0" indent="0">
              <a:buNone/>
            </a:pPr>
            <a:r>
              <a:rPr lang="en-US" sz="1000" b="1" kern="0" spc="100" dirty="0">
                <a:solidFill>
                  <a:srgbClr val="3D2B4F"/>
                </a:solidFill>
                <a:latin typeface="Calibri" pitchFamily="34" charset="0"/>
                <a:ea typeface="Calibri" pitchFamily="34" charset="-122"/>
                <a:cs typeface="Calibri" pitchFamily="34" charset="-120"/>
              </a:rPr>
              <a:t>The Context</a:t>
            </a:r>
            <a:endParaRPr lang="en-US" sz="1000" dirty="0"/>
          </a:p>
        </p:txBody>
      </p:sp>
      <p:sp>
        <p:nvSpPr>
          <p:cNvPr id="10" name="Text 8"/>
          <p:cNvSpPr/>
          <p:nvPr/>
        </p:nvSpPr>
        <p:spPr>
          <a:xfrm>
            <a:off x="594360" y="1143000"/>
            <a:ext cx="7955280" cy="749808"/>
          </a:xfrm>
          <a:prstGeom prst="rect">
            <a:avLst/>
          </a:prstGeom>
          <a:noFill/>
          <a:ln/>
        </p:spPr>
        <p:txBody>
          <a:bodyPr wrap="square" lIns="0" tIns="0" rIns="0" bIns="0" rtlCol="0" anchor="ctr"/>
          <a:lstStyle/>
          <a:p>
            <a:pPr marL="0" indent="0">
              <a:buNone/>
            </a:pPr>
            <a:r>
              <a:rPr lang="en-US" sz="1150" dirty="0">
                <a:solidFill>
                  <a:srgbClr val="3C3C3C"/>
                </a:solidFill>
                <a:latin typeface="Calibri" pitchFamily="34" charset="0"/>
                <a:ea typeface="Calibri" pitchFamily="34" charset="-122"/>
                <a:cs typeface="Calibri" pitchFamily="34" charset="-120"/>
              </a:rPr>
              <a:t>GlowCo, a growing beauty and skincare e-commerce brand, operates across multiple sales channels and global markets but lacks a centralized, data-driven system to monitor business performance, understand customer behaviour and identify revenue risks in real time.</a:t>
            </a:r>
            <a:endParaRPr lang="en-US" sz="1150" dirty="0"/>
          </a:p>
        </p:txBody>
      </p:sp>
      <p:sp>
        <p:nvSpPr>
          <p:cNvPr id="11" name="Shape 9"/>
          <p:cNvSpPr/>
          <p:nvPr/>
        </p:nvSpPr>
        <p:spPr>
          <a:xfrm>
            <a:off x="365760" y="2148840"/>
            <a:ext cx="8412480" cy="118872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12" name="Shape 10"/>
          <p:cNvSpPr/>
          <p:nvPr/>
        </p:nvSpPr>
        <p:spPr>
          <a:xfrm>
            <a:off x="365760" y="2148840"/>
            <a:ext cx="82296" cy="1188720"/>
          </a:xfrm>
          <a:prstGeom prst="rect">
            <a:avLst/>
          </a:prstGeom>
          <a:solidFill>
            <a:srgbClr val="C9847A"/>
          </a:solidFill>
          <a:ln w="12700">
            <a:solidFill>
              <a:srgbClr val="C9847A"/>
            </a:solidFill>
            <a:prstDash val="solid"/>
          </a:ln>
        </p:spPr>
      </p:sp>
      <p:sp>
        <p:nvSpPr>
          <p:cNvPr id="13" name="Text 11"/>
          <p:cNvSpPr/>
          <p:nvPr/>
        </p:nvSpPr>
        <p:spPr>
          <a:xfrm>
            <a:off x="594360" y="2240280"/>
            <a:ext cx="2743200" cy="256032"/>
          </a:xfrm>
          <a:prstGeom prst="rect">
            <a:avLst/>
          </a:prstGeom>
          <a:noFill/>
          <a:ln/>
        </p:spPr>
        <p:txBody>
          <a:bodyPr wrap="square" lIns="0" tIns="0" rIns="0" bIns="0" rtlCol="0" anchor="ctr"/>
          <a:lstStyle/>
          <a:p>
            <a:pPr marL="0" indent="0">
              <a:buNone/>
            </a:pPr>
            <a:r>
              <a:rPr lang="en-US" sz="1000" b="1" kern="0" spc="100" dirty="0">
                <a:solidFill>
                  <a:srgbClr val="C9847A"/>
                </a:solidFill>
                <a:latin typeface="Calibri" pitchFamily="34" charset="0"/>
                <a:ea typeface="Calibri" pitchFamily="34" charset="-122"/>
                <a:cs typeface="Calibri" pitchFamily="34" charset="-120"/>
              </a:rPr>
              <a:t>The Challenge</a:t>
            </a:r>
            <a:endParaRPr lang="en-US" sz="1000" dirty="0"/>
          </a:p>
        </p:txBody>
      </p:sp>
      <p:sp>
        <p:nvSpPr>
          <p:cNvPr id="14" name="Text 12"/>
          <p:cNvSpPr/>
          <p:nvPr/>
        </p:nvSpPr>
        <p:spPr>
          <a:xfrm>
            <a:off x="594360" y="2514600"/>
            <a:ext cx="7955280" cy="749808"/>
          </a:xfrm>
          <a:prstGeom prst="rect">
            <a:avLst/>
          </a:prstGeom>
          <a:noFill/>
          <a:ln/>
        </p:spPr>
        <p:txBody>
          <a:bodyPr wrap="square" lIns="0" tIns="0" rIns="0" bIns="0" rtlCol="0" anchor="ctr"/>
          <a:lstStyle/>
          <a:p>
            <a:pPr marL="0" indent="0">
              <a:buNone/>
            </a:pPr>
            <a:r>
              <a:rPr lang="en-US" sz="1150" dirty="0">
                <a:solidFill>
                  <a:srgbClr val="3C3C3C"/>
                </a:solidFill>
                <a:latin typeface="Calibri" pitchFamily="34" charset="0"/>
                <a:ea typeface="Calibri" pitchFamily="34" charset="-122"/>
                <a:cs typeface="Calibri" pitchFamily="34" charset="-120"/>
              </a:rPr>
              <a:t>Without clear visibility into sales trends, customer segments, product performance and inventory levels, the business struggles to make informed decisions that drive growth, improve retention and prevent revenue loss from stockouts and high return rates.</a:t>
            </a:r>
            <a:endParaRPr lang="en-US" sz="1150" dirty="0"/>
          </a:p>
        </p:txBody>
      </p:sp>
      <p:sp>
        <p:nvSpPr>
          <p:cNvPr id="15" name="Shape 13"/>
          <p:cNvSpPr/>
          <p:nvPr/>
        </p:nvSpPr>
        <p:spPr>
          <a:xfrm>
            <a:off x="365760" y="3520440"/>
            <a:ext cx="8412480" cy="118872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16" name="Shape 14"/>
          <p:cNvSpPr/>
          <p:nvPr/>
        </p:nvSpPr>
        <p:spPr>
          <a:xfrm>
            <a:off x="365760" y="3520440"/>
            <a:ext cx="82296" cy="1188720"/>
          </a:xfrm>
          <a:prstGeom prst="rect">
            <a:avLst/>
          </a:prstGeom>
          <a:solidFill>
            <a:srgbClr val="8FAF8F"/>
          </a:solidFill>
          <a:ln w="12700">
            <a:solidFill>
              <a:srgbClr val="8FAF8F"/>
            </a:solidFill>
            <a:prstDash val="solid"/>
          </a:ln>
        </p:spPr>
      </p:sp>
      <p:sp>
        <p:nvSpPr>
          <p:cNvPr id="17" name="Text 15"/>
          <p:cNvSpPr/>
          <p:nvPr/>
        </p:nvSpPr>
        <p:spPr>
          <a:xfrm>
            <a:off x="594360" y="3611880"/>
            <a:ext cx="2743200" cy="256032"/>
          </a:xfrm>
          <a:prstGeom prst="rect">
            <a:avLst/>
          </a:prstGeom>
          <a:noFill/>
          <a:ln/>
        </p:spPr>
        <p:txBody>
          <a:bodyPr wrap="square" lIns="0" tIns="0" rIns="0" bIns="0" rtlCol="0" anchor="ctr"/>
          <a:lstStyle/>
          <a:p>
            <a:pPr marL="0" indent="0">
              <a:buNone/>
            </a:pPr>
            <a:r>
              <a:rPr lang="en-US" sz="1000" b="1" kern="0" spc="100" dirty="0">
                <a:solidFill>
                  <a:srgbClr val="8FAF8F"/>
                </a:solidFill>
                <a:latin typeface="Calibri" pitchFamily="34" charset="0"/>
                <a:ea typeface="Calibri" pitchFamily="34" charset="-122"/>
                <a:cs typeface="Calibri" pitchFamily="34" charset="-120"/>
              </a:rPr>
              <a:t>The Solution</a:t>
            </a:r>
            <a:endParaRPr lang="en-US" sz="1000" dirty="0"/>
          </a:p>
        </p:txBody>
      </p:sp>
      <p:sp>
        <p:nvSpPr>
          <p:cNvPr id="18" name="Text 16"/>
          <p:cNvSpPr/>
          <p:nvPr/>
        </p:nvSpPr>
        <p:spPr>
          <a:xfrm>
            <a:off x="594360" y="3886200"/>
            <a:ext cx="7955280" cy="749808"/>
          </a:xfrm>
          <a:prstGeom prst="rect">
            <a:avLst/>
          </a:prstGeom>
          <a:noFill/>
          <a:ln/>
        </p:spPr>
        <p:txBody>
          <a:bodyPr wrap="square" lIns="0" tIns="0" rIns="0" bIns="0" rtlCol="0" anchor="ctr"/>
          <a:lstStyle/>
          <a:p>
            <a:pPr marL="0" indent="0">
              <a:buNone/>
            </a:pPr>
            <a:r>
              <a:rPr lang="en-US" sz="1150" dirty="0">
                <a:solidFill>
                  <a:srgbClr val="3C3C3C"/>
                </a:solidFill>
                <a:latin typeface="Calibri" pitchFamily="34" charset="0"/>
                <a:ea typeface="Calibri" pitchFamily="34" charset="-122"/>
                <a:cs typeface="Calibri" pitchFamily="34" charset="-120"/>
              </a:rPr>
              <a:t>This analysis provides GlowCo's leadership with an interactive analytics dashboard that transforms raw transactional data into actionable insights — enabling smarter decisions across sales, marketing, operations and customer experience.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D2B4F"/>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6B4F7A"/>
          </a:solidFill>
          <a:ln w="12700">
            <a:solidFill>
              <a:srgbClr val="6B4F7A"/>
            </a:solidFill>
            <a:prstDash val="solid"/>
          </a:ln>
        </p:spPr>
      </p:sp>
      <p:sp>
        <p:nvSpPr>
          <p:cNvPr id="3" name="Shape 1"/>
          <p:cNvSpPr/>
          <p:nvPr/>
        </p:nvSpPr>
        <p:spPr>
          <a:xfrm>
            <a:off x="-457200" y="3657600"/>
            <a:ext cx="1828800" cy="1828800"/>
          </a:xfrm>
          <a:prstGeom prst="ellipse">
            <a:avLst/>
          </a:prstGeom>
          <a:solidFill>
            <a:srgbClr val="6B4F7A"/>
          </a:solidFill>
          <a:ln w="12700">
            <a:solidFill>
              <a:srgbClr val="6B4F7A"/>
            </a:solidFill>
            <a:prstDash val="solid"/>
          </a:ln>
        </p:spPr>
      </p:sp>
      <p:sp>
        <p:nvSpPr>
          <p:cNvPr id="4" name="Shape 2"/>
          <p:cNvSpPr/>
          <p:nvPr/>
        </p:nvSpPr>
        <p:spPr>
          <a:xfrm>
            <a:off x="365760" y="228600"/>
            <a:ext cx="457200" cy="457200"/>
          </a:xfrm>
          <a:prstGeom prst="rect">
            <a:avLst/>
          </a:prstGeom>
          <a:solidFill>
            <a:srgbClr val="C9847A"/>
          </a:solidFill>
          <a:ln w="12700">
            <a:solidFill>
              <a:srgbClr val="C9847A"/>
            </a:solidFill>
            <a:prstDash val="solid"/>
          </a:ln>
        </p:spPr>
      </p:sp>
      <p:sp>
        <p:nvSpPr>
          <p:cNvPr id="5" name="Text 3"/>
          <p:cNvSpPr/>
          <p:nvPr/>
        </p:nvSpPr>
        <p:spPr>
          <a:xfrm>
            <a:off x="365760" y="22860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02</a:t>
            </a:r>
            <a:endParaRPr lang="en-US" sz="1100" dirty="0"/>
          </a:p>
        </p:txBody>
      </p:sp>
      <p:sp>
        <p:nvSpPr>
          <p:cNvPr id="6" name="Text 4"/>
          <p:cNvSpPr/>
          <p:nvPr/>
        </p:nvSpPr>
        <p:spPr>
          <a:xfrm>
            <a:off x="960120" y="228600"/>
            <a:ext cx="6400800" cy="5029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Project Objectives</a:t>
            </a:r>
            <a:endParaRPr lang="en-US" sz="2600" dirty="0"/>
          </a:p>
        </p:txBody>
      </p:sp>
      <p:sp>
        <p:nvSpPr>
          <p:cNvPr id="7" name="Text 5"/>
          <p:cNvSpPr/>
          <p:nvPr/>
        </p:nvSpPr>
        <p:spPr>
          <a:xfrm>
            <a:off x="967740" y="749808"/>
            <a:ext cx="6400800" cy="274320"/>
          </a:xfrm>
          <a:prstGeom prst="rect">
            <a:avLst/>
          </a:prstGeom>
          <a:noFill/>
          <a:ln/>
        </p:spPr>
        <p:txBody>
          <a:bodyPr wrap="square" lIns="0" tIns="0" rIns="0" bIns="0" rtlCol="0" anchor="ctr"/>
          <a:lstStyle/>
          <a:p>
            <a:pPr marL="0" indent="0">
              <a:buNone/>
            </a:pPr>
            <a:endParaRPr lang="en-US" sz="1100" dirty="0"/>
          </a:p>
        </p:txBody>
      </p:sp>
      <p:sp>
        <p:nvSpPr>
          <p:cNvPr id="8" name="Shape 6"/>
          <p:cNvSpPr/>
          <p:nvPr/>
        </p:nvSpPr>
        <p:spPr>
          <a:xfrm>
            <a:off x="320040" y="1143000"/>
            <a:ext cx="4206240" cy="1115568"/>
          </a:xfrm>
          <a:prstGeom prst="rect">
            <a:avLst/>
          </a:prstGeom>
          <a:solidFill>
            <a:srgbClr val="FFFFFF">
              <a:alpha val="8000"/>
            </a:srgbClr>
          </a:solidFill>
          <a:ln w="12700">
            <a:solidFill>
              <a:srgbClr val="C9847A"/>
            </a:solidFill>
            <a:prstDash val="solid"/>
          </a:ln>
          <a:effectLst>
            <a:outerShdw blurRad="101600" dist="38100" dir="8100000" algn="bl" rotWithShape="0">
              <a:srgbClr val="000000">
                <a:alpha val="12000"/>
              </a:srgbClr>
            </a:outerShdw>
          </a:effectLst>
        </p:spPr>
      </p:sp>
      <p:sp>
        <p:nvSpPr>
          <p:cNvPr id="9" name="Shape 7"/>
          <p:cNvSpPr/>
          <p:nvPr/>
        </p:nvSpPr>
        <p:spPr>
          <a:xfrm>
            <a:off x="429768" y="1399032"/>
            <a:ext cx="384048" cy="384048"/>
          </a:xfrm>
          <a:prstGeom prst="ellipse">
            <a:avLst/>
          </a:prstGeom>
          <a:solidFill>
            <a:srgbClr val="C9847A"/>
          </a:solidFill>
          <a:ln w="12700">
            <a:solidFill>
              <a:srgbClr val="C9847A"/>
            </a:solidFill>
            <a:prstDash val="solid"/>
          </a:ln>
        </p:spPr>
      </p:sp>
      <p:sp>
        <p:nvSpPr>
          <p:cNvPr id="10" name="Text 8"/>
          <p:cNvSpPr/>
          <p:nvPr/>
        </p:nvSpPr>
        <p:spPr>
          <a:xfrm>
            <a:off x="429768" y="13990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1" name="Text 9"/>
          <p:cNvSpPr/>
          <p:nvPr/>
        </p:nvSpPr>
        <p:spPr>
          <a:xfrm>
            <a:off x="914400" y="1252728"/>
            <a:ext cx="3493008" cy="8961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Monitor and evaluate GlowCo's sales performance across products, categories and time periods.</a:t>
            </a:r>
            <a:endParaRPr lang="en-US" sz="1050" dirty="0"/>
          </a:p>
        </p:txBody>
      </p:sp>
      <p:sp>
        <p:nvSpPr>
          <p:cNvPr id="12" name="Shape 10"/>
          <p:cNvSpPr/>
          <p:nvPr/>
        </p:nvSpPr>
        <p:spPr>
          <a:xfrm>
            <a:off x="320040" y="2404872"/>
            <a:ext cx="4206240" cy="1115568"/>
          </a:xfrm>
          <a:prstGeom prst="rect">
            <a:avLst/>
          </a:prstGeom>
          <a:solidFill>
            <a:srgbClr val="FFFFFF">
              <a:alpha val="8000"/>
            </a:srgbClr>
          </a:solidFill>
          <a:ln w="12700">
            <a:solidFill>
              <a:srgbClr val="C9847A"/>
            </a:solidFill>
            <a:prstDash val="solid"/>
          </a:ln>
          <a:effectLst>
            <a:outerShdw blurRad="101600" dist="38100" dir="8100000" algn="bl" rotWithShape="0">
              <a:srgbClr val="000000">
                <a:alpha val="12000"/>
              </a:srgbClr>
            </a:outerShdw>
          </a:effectLst>
        </p:spPr>
      </p:sp>
      <p:sp>
        <p:nvSpPr>
          <p:cNvPr id="13" name="Shape 11"/>
          <p:cNvSpPr/>
          <p:nvPr/>
        </p:nvSpPr>
        <p:spPr>
          <a:xfrm>
            <a:off x="429768" y="2660904"/>
            <a:ext cx="384048" cy="384048"/>
          </a:xfrm>
          <a:prstGeom prst="ellipse">
            <a:avLst/>
          </a:prstGeom>
          <a:solidFill>
            <a:srgbClr val="C9847A"/>
          </a:solidFill>
          <a:ln w="12700">
            <a:solidFill>
              <a:srgbClr val="C9847A"/>
            </a:solidFill>
            <a:prstDash val="solid"/>
          </a:ln>
        </p:spPr>
      </p:sp>
      <p:sp>
        <p:nvSpPr>
          <p:cNvPr id="14" name="Text 12"/>
          <p:cNvSpPr/>
          <p:nvPr/>
        </p:nvSpPr>
        <p:spPr>
          <a:xfrm>
            <a:off x="429768" y="26609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5" name="Text 13"/>
          <p:cNvSpPr/>
          <p:nvPr/>
        </p:nvSpPr>
        <p:spPr>
          <a:xfrm>
            <a:off x="914400" y="2514600"/>
            <a:ext cx="3493008" cy="8961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Segment and understand customer behaviour, retention and purchasing patterns across demographics.</a:t>
            </a:r>
            <a:endParaRPr lang="en-US" sz="1050" dirty="0"/>
          </a:p>
        </p:txBody>
      </p:sp>
      <p:sp>
        <p:nvSpPr>
          <p:cNvPr id="16" name="Shape 14"/>
          <p:cNvSpPr/>
          <p:nvPr/>
        </p:nvSpPr>
        <p:spPr>
          <a:xfrm>
            <a:off x="320040" y="3666744"/>
            <a:ext cx="4206240" cy="1115568"/>
          </a:xfrm>
          <a:prstGeom prst="rect">
            <a:avLst/>
          </a:prstGeom>
          <a:solidFill>
            <a:srgbClr val="FFFFFF">
              <a:alpha val="8000"/>
            </a:srgbClr>
          </a:solidFill>
          <a:ln w="12700">
            <a:solidFill>
              <a:srgbClr val="C9847A"/>
            </a:solidFill>
            <a:prstDash val="solid"/>
          </a:ln>
          <a:effectLst>
            <a:outerShdw blurRad="101600" dist="38100" dir="8100000" algn="bl" rotWithShape="0">
              <a:srgbClr val="000000">
                <a:alpha val="12000"/>
              </a:srgbClr>
            </a:outerShdw>
          </a:effectLst>
        </p:spPr>
      </p:sp>
      <p:sp>
        <p:nvSpPr>
          <p:cNvPr id="17" name="Shape 15"/>
          <p:cNvSpPr/>
          <p:nvPr/>
        </p:nvSpPr>
        <p:spPr>
          <a:xfrm>
            <a:off x="429768" y="3922776"/>
            <a:ext cx="384048" cy="384048"/>
          </a:xfrm>
          <a:prstGeom prst="ellipse">
            <a:avLst/>
          </a:prstGeom>
          <a:solidFill>
            <a:srgbClr val="C9847A"/>
          </a:solidFill>
          <a:ln w="12700">
            <a:solidFill>
              <a:srgbClr val="C9847A"/>
            </a:solidFill>
            <a:prstDash val="solid"/>
          </a:ln>
        </p:spPr>
      </p:sp>
      <p:sp>
        <p:nvSpPr>
          <p:cNvPr id="18" name="Text 16"/>
          <p:cNvSpPr/>
          <p:nvPr/>
        </p:nvSpPr>
        <p:spPr>
          <a:xfrm>
            <a:off x="429768" y="392277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9" name="Text 17"/>
          <p:cNvSpPr/>
          <p:nvPr/>
        </p:nvSpPr>
        <p:spPr>
          <a:xfrm>
            <a:off x="914400" y="3776472"/>
            <a:ext cx="3493008" cy="8961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Assess product performance and identify top selling and underperforming products by revenue and units sold.</a:t>
            </a:r>
            <a:endParaRPr lang="en-US" sz="1050" dirty="0"/>
          </a:p>
        </p:txBody>
      </p:sp>
      <p:sp>
        <p:nvSpPr>
          <p:cNvPr id="20" name="Shape 18"/>
          <p:cNvSpPr/>
          <p:nvPr/>
        </p:nvSpPr>
        <p:spPr>
          <a:xfrm>
            <a:off x="4754880" y="1143000"/>
            <a:ext cx="4206240" cy="1115568"/>
          </a:xfrm>
          <a:prstGeom prst="rect">
            <a:avLst/>
          </a:prstGeom>
          <a:solidFill>
            <a:srgbClr val="FFFFFF">
              <a:alpha val="8000"/>
            </a:srgbClr>
          </a:solidFill>
          <a:ln w="12700">
            <a:solidFill>
              <a:srgbClr val="C9847A"/>
            </a:solidFill>
            <a:prstDash val="solid"/>
          </a:ln>
          <a:effectLst>
            <a:outerShdw blurRad="101600" dist="38100" dir="8100000" algn="bl" rotWithShape="0">
              <a:srgbClr val="000000">
                <a:alpha val="12000"/>
              </a:srgbClr>
            </a:outerShdw>
          </a:effectLst>
        </p:spPr>
      </p:sp>
      <p:sp>
        <p:nvSpPr>
          <p:cNvPr id="21" name="Shape 19"/>
          <p:cNvSpPr/>
          <p:nvPr/>
        </p:nvSpPr>
        <p:spPr>
          <a:xfrm>
            <a:off x="4864608" y="1399032"/>
            <a:ext cx="384048" cy="384048"/>
          </a:xfrm>
          <a:prstGeom prst="ellipse">
            <a:avLst/>
          </a:prstGeom>
          <a:solidFill>
            <a:srgbClr val="C9847A"/>
          </a:solidFill>
          <a:ln w="12700">
            <a:solidFill>
              <a:srgbClr val="C9847A"/>
            </a:solidFill>
            <a:prstDash val="solid"/>
          </a:ln>
        </p:spPr>
      </p:sp>
      <p:sp>
        <p:nvSpPr>
          <p:cNvPr id="22" name="Text 20"/>
          <p:cNvSpPr/>
          <p:nvPr/>
        </p:nvSpPr>
        <p:spPr>
          <a:xfrm>
            <a:off x="4864608" y="13990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3" name="Text 21"/>
          <p:cNvSpPr/>
          <p:nvPr/>
        </p:nvSpPr>
        <p:spPr>
          <a:xfrm>
            <a:off x="5349240" y="1252728"/>
            <a:ext cx="3493008" cy="8961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Analyze sales channel effectiveness and identify the most profitable markets by country and region.</a:t>
            </a:r>
            <a:endParaRPr lang="en-US" sz="1050" dirty="0"/>
          </a:p>
        </p:txBody>
      </p:sp>
      <p:sp>
        <p:nvSpPr>
          <p:cNvPr id="24" name="Shape 22"/>
          <p:cNvSpPr/>
          <p:nvPr/>
        </p:nvSpPr>
        <p:spPr>
          <a:xfrm>
            <a:off x="4754880" y="2404872"/>
            <a:ext cx="4206240" cy="1115568"/>
          </a:xfrm>
          <a:prstGeom prst="rect">
            <a:avLst/>
          </a:prstGeom>
          <a:solidFill>
            <a:srgbClr val="FFFFFF">
              <a:alpha val="8000"/>
            </a:srgbClr>
          </a:solidFill>
          <a:ln w="12700">
            <a:solidFill>
              <a:srgbClr val="C9847A"/>
            </a:solidFill>
            <a:prstDash val="solid"/>
          </a:ln>
          <a:effectLst>
            <a:outerShdw blurRad="101600" dist="38100" dir="8100000" algn="bl" rotWithShape="0">
              <a:srgbClr val="000000">
                <a:alpha val="12000"/>
              </a:srgbClr>
            </a:outerShdw>
          </a:effectLst>
        </p:spPr>
      </p:sp>
      <p:sp>
        <p:nvSpPr>
          <p:cNvPr id="25" name="Shape 23"/>
          <p:cNvSpPr/>
          <p:nvPr/>
        </p:nvSpPr>
        <p:spPr>
          <a:xfrm>
            <a:off x="4864608" y="2660904"/>
            <a:ext cx="384048" cy="384048"/>
          </a:xfrm>
          <a:prstGeom prst="ellipse">
            <a:avLst/>
          </a:prstGeom>
          <a:solidFill>
            <a:srgbClr val="C9847A"/>
          </a:solidFill>
          <a:ln w="12700">
            <a:solidFill>
              <a:srgbClr val="C9847A"/>
            </a:solidFill>
            <a:prstDash val="solid"/>
          </a:ln>
        </p:spPr>
      </p:sp>
      <p:sp>
        <p:nvSpPr>
          <p:cNvPr id="26" name="Text 24"/>
          <p:cNvSpPr/>
          <p:nvPr/>
        </p:nvSpPr>
        <p:spPr>
          <a:xfrm>
            <a:off x="4864608" y="26609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27" name="Text 25"/>
          <p:cNvSpPr/>
          <p:nvPr/>
        </p:nvSpPr>
        <p:spPr>
          <a:xfrm>
            <a:off x="5349240" y="2514600"/>
            <a:ext cx="3493008" cy="8961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Track inventory levels and flag products at risk of stockout before they impact revenue.</a:t>
            </a:r>
            <a:endParaRPr lang="en-US" sz="1050" dirty="0"/>
          </a:p>
        </p:txBody>
      </p:sp>
      <p:sp>
        <p:nvSpPr>
          <p:cNvPr id="28" name="Shape 26"/>
          <p:cNvSpPr/>
          <p:nvPr/>
        </p:nvSpPr>
        <p:spPr>
          <a:xfrm>
            <a:off x="4754880" y="3666744"/>
            <a:ext cx="4206240" cy="1115568"/>
          </a:xfrm>
          <a:prstGeom prst="rect">
            <a:avLst/>
          </a:prstGeom>
          <a:solidFill>
            <a:srgbClr val="FFFFFF">
              <a:alpha val="8000"/>
            </a:srgbClr>
          </a:solidFill>
          <a:ln w="12700">
            <a:solidFill>
              <a:srgbClr val="C9847A"/>
            </a:solidFill>
            <a:prstDash val="solid"/>
          </a:ln>
          <a:effectLst>
            <a:outerShdw blurRad="101600" dist="38100" dir="8100000" algn="bl" rotWithShape="0">
              <a:srgbClr val="000000">
                <a:alpha val="12000"/>
              </a:srgbClr>
            </a:outerShdw>
          </a:effectLst>
        </p:spPr>
      </p:sp>
      <p:sp>
        <p:nvSpPr>
          <p:cNvPr id="29" name="Shape 27"/>
          <p:cNvSpPr/>
          <p:nvPr/>
        </p:nvSpPr>
        <p:spPr>
          <a:xfrm>
            <a:off x="4864608" y="3922776"/>
            <a:ext cx="384048" cy="384048"/>
          </a:xfrm>
          <a:prstGeom prst="ellipse">
            <a:avLst/>
          </a:prstGeom>
          <a:solidFill>
            <a:srgbClr val="C9847A"/>
          </a:solidFill>
          <a:ln w="12700">
            <a:solidFill>
              <a:srgbClr val="C9847A"/>
            </a:solidFill>
            <a:prstDash val="solid"/>
          </a:ln>
        </p:spPr>
      </p:sp>
      <p:sp>
        <p:nvSpPr>
          <p:cNvPr id="30" name="Text 28"/>
          <p:cNvSpPr/>
          <p:nvPr/>
        </p:nvSpPr>
        <p:spPr>
          <a:xfrm>
            <a:off x="4864608" y="392277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6</a:t>
            </a:r>
            <a:endParaRPr lang="en-US" sz="1200" dirty="0"/>
          </a:p>
        </p:txBody>
      </p:sp>
      <p:sp>
        <p:nvSpPr>
          <p:cNvPr id="31" name="Text 29"/>
          <p:cNvSpPr/>
          <p:nvPr/>
        </p:nvSpPr>
        <p:spPr>
          <a:xfrm>
            <a:off x="5349240" y="3776472"/>
            <a:ext cx="3493008" cy="8961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Investigate return patterns by category and quantify their financial impact on the business.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847A"/>
          </a:solidFill>
          <a:ln w="12700">
            <a:solidFill>
              <a:srgbClr val="C9847A"/>
            </a:solidFill>
            <a:prstDash val="solid"/>
          </a:ln>
        </p:spPr>
      </p:sp>
      <p:sp>
        <p:nvSpPr>
          <p:cNvPr id="3" name="Shape 1"/>
          <p:cNvSpPr/>
          <p:nvPr/>
        </p:nvSpPr>
        <p:spPr>
          <a:xfrm>
            <a:off x="0" y="73152"/>
            <a:ext cx="1005840" cy="502920"/>
          </a:xfrm>
          <a:prstGeom prst="rect">
            <a:avLst/>
          </a:prstGeom>
          <a:solidFill>
            <a:srgbClr val="3D2B4F"/>
          </a:solidFill>
          <a:ln w="12700">
            <a:solidFill>
              <a:srgbClr val="3D2B4F"/>
            </a:solidFill>
            <a:prstDash val="solid"/>
          </a:ln>
        </p:spPr>
      </p:sp>
      <p:sp>
        <p:nvSpPr>
          <p:cNvPr id="4" name="Text 2"/>
          <p:cNvSpPr/>
          <p:nvPr/>
        </p:nvSpPr>
        <p:spPr>
          <a:xfrm>
            <a:off x="0" y="73152"/>
            <a:ext cx="1005840" cy="502920"/>
          </a:xfrm>
          <a:prstGeom prst="rect">
            <a:avLst/>
          </a:prstGeom>
          <a:noFill/>
          <a:ln/>
        </p:spPr>
        <p:txBody>
          <a:bodyPr wrap="square" lIns="0" tIns="0" rIns="0" bIns="0" rtlCol="0" anchor="ctr"/>
          <a:lstStyle/>
          <a:p>
            <a:pPr marL="0" indent="0" algn="ctr">
              <a:buNone/>
            </a:pPr>
            <a:r>
              <a:rPr lang="en-US" sz="1800" b="1" dirty="0">
                <a:solidFill>
                  <a:srgbClr val="C9847A"/>
                </a:solidFill>
                <a:latin typeface="Georgia" pitchFamily="34" charset="0"/>
                <a:ea typeface="Georgia" pitchFamily="34" charset="-122"/>
                <a:cs typeface="Georgia" pitchFamily="34" charset="-120"/>
              </a:rPr>
              <a:t>03</a:t>
            </a:r>
            <a:endParaRPr lang="en-US" sz="1800" dirty="0"/>
          </a:p>
        </p:txBody>
      </p:sp>
      <p:sp>
        <p:nvSpPr>
          <p:cNvPr id="5" name="Text 3"/>
          <p:cNvSpPr/>
          <p:nvPr/>
        </p:nvSpPr>
        <p:spPr>
          <a:xfrm>
            <a:off x="1143000" y="109728"/>
            <a:ext cx="6400800" cy="457200"/>
          </a:xfrm>
          <a:prstGeom prst="rect">
            <a:avLst/>
          </a:prstGeom>
          <a:noFill/>
          <a:ln/>
        </p:spPr>
        <p:txBody>
          <a:bodyPr wrap="square" lIns="0" tIns="0" rIns="0" bIns="0" rtlCol="0" anchor="ctr"/>
          <a:lstStyle/>
          <a:p>
            <a:pPr marL="0" indent="0">
              <a:buNone/>
            </a:pPr>
            <a:r>
              <a:rPr lang="en-US" sz="2600" b="1" dirty="0">
                <a:solidFill>
                  <a:srgbClr val="3D2B4F"/>
                </a:solidFill>
                <a:latin typeface="Georgia" pitchFamily="34" charset="0"/>
                <a:ea typeface="Georgia" pitchFamily="34" charset="-122"/>
                <a:cs typeface="Georgia" pitchFamily="34" charset="-120"/>
              </a:rPr>
              <a:t>Sales Overview</a:t>
            </a:r>
            <a:endParaRPr lang="en-US" sz="2600" dirty="0"/>
          </a:p>
        </p:txBody>
      </p:sp>
      <p:sp>
        <p:nvSpPr>
          <p:cNvPr id="6" name="Text 4"/>
          <p:cNvSpPr/>
          <p:nvPr/>
        </p:nvSpPr>
        <p:spPr>
          <a:xfrm>
            <a:off x="1143000" y="548640"/>
            <a:ext cx="7772400" cy="256032"/>
          </a:xfrm>
          <a:prstGeom prst="rect">
            <a:avLst/>
          </a:prstGeom>
          <a:noFill/>
          <a:ln/>
        </p:spPr>
        <p:txBody>
          <a:bodyPr wrap="square" lIns="0" tIns="0" rIns="0" bIns="0" rtlCol="0" anchor="ctr"/>
          <a:lstStyle/>
          <a:p>
            <a:pPr marL="0" indent="0">
              <a:buNone/>
            </a:pPr>
            <a:r>
              <a:rPr lang="en-US" sz="1000" i="1" dirty="0">
                <a:solidFill>
                  <a:srgbClr val="3C3C3C"/>
                </a:solidFill>
                <a:latin typeface="Calibri" pitchFamily="34" charset="0"/>
                <a:ea typeface="Calibri" pitchFamily="34" charset="-122"/>
                <a:cs typeface="Calibri" pitchFamily="34" charset="-120"/>
              </a:rPr>
              <a:t>Revenue performance, product categories &amp; order trends  |  2023 — 2024</a:t>
            </a:r>
            <a:endParaRPr lang="en-US" sz="1000" dirty="0"/>
          </a:p>
        </p:txBody>
      </p:sp>
      <p:sp>
        <p:nvSpPr>
          <p:cNvPr id="7" name="Shape 5"/>
          <p:cNvSpPr/>
          <p:nvPr/>
        </p:nvSpPr>
        <p:spPr>
          <a:xfrm>
            <a:off x="27432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8" name="Shape 6"/>
          <p:cNvSpPr/>
          <p:nvPr/>
        </p:nvSpPr>
        <p:spPr>
          <a:xfrm>
            <a:off x="274320" y="868680"/>
            <a:ext cx="1600200" cy="54864"/>
          </a:xfrm>
          <a:prstGeom prst="rect">
            <a:avLst/>
          </a:prstGeom>
          <a:solidFill>
            <a:srgbClr val="3D2B4F"/>
          </a:solidFill>
          <a:ln w="12700">
            <a:solidFill>
              <a:srgbClr val="3D2B4F"/>
            </a:solidFill>
            <a:prstDash val="solid"/>
          </a:ln>
        </p:spPr>
      </p:sp>
      <p:sp>
        <p:nvSpPr>
          <p:cNvPr id="9" name="Text 7"/>
          <p:cNvSpPr/>
          <p:nvPr/>
        </p:nvSpPr>
        <p:spPr>
          <a:xfrm>
            <a:off x="274320" y="960120"/>
            <a:ext cx="1600200" cy="347472"/>
          </a:xfrm>
          <a:prstGeom prst="rect">
            <a:avLst/>
          </a:prstGeom>
          <a:noFill/>
          <a:ln/>
        </p:spPr>
        <p:txBody>
          <a:bodyPr wrap="square" lIns="0" tIns="0" rIns="0" bIns="0" rtlCol="0" anchor="ctr"/>
          <a:lstStyle/>
          <a:p>
            <a:pPr marL="0" indent="0" algn="ctr">
              <a:buNone/>
            </a:pPr>
            <a:r>
              <a:rPr lang="en-US" sz="1700" b="1" dirty="0">
                <a:solidFill>
                  <a:srgbClr val="3D2B4F"/>
                </a:solidFill>
                <a:latin typeface="Georgia" pitchFamily="34" charset="0"/>
                <a:ea typeface="Georgia" pitchFamily="34" charset="-122"/>
                <a:cs typeface="Georgia" pitchFamily="34" charset="-120"/>
              </a:rPr>
              <a:t>$0.15M</a:t>
            </a:r>
            <a:endParaRPr lang="en-US" sz="1700" dirty="0"/>
          </a:p>
        </p:txBody>
      </p:sp>
      <p:sp>
        <p:nvSpPr>
          <p:cNvPr id="10" name="Text 8"/>
          <p:cNvSpPr/>
          <p:nvPr/>
        </p:nvSpPr>
        <p:spPr>
          <a:xfrm>
            <a:off x="27432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Total Revenue</a:t>
            </a:r>
            <a:endParaRPr lang="en-US" sz="800" dirty="0"/>
          </a:p>
        </p:txBody>
      </p:sp>
      <p:sp>
        <p:nvSpPr>
          <p:cNvPr id="11" name="Shape 9"/>
          <p:cNvSpPr/>
          <p:nvPr/>
        </p:nvSpPr>
        <p:spPr>
          <a:xfrm>
            <a:off x="201168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2" name="Shape 10"/>
          <p:cNvSpPr/>
          <p:nvPr/>
        </p:nvSpPr>
        <p:spPr>
          <a:xfrm>
            <a:off x="2011680" y="868680"/>
            <a:ext cx="1600200" cy="54864"/>
          </a:xfrm>
          <a:prstGeom prst="rect">
            <a:avLst/>
          </a:prstGeom>
          <a:solidFill>
            <a:srgbClr val="C9847A"/>
          </a:solidFill>
          <a:ln w="12700">
            <a:solidFill>
              <a:srgbClr val="C9847A"/>
            </a:solidFill>
            <a:prstDash val="solid"/>
          </a:ln>
        </p:spPr>
      </p:sp>
      <p:sp>
        <p:nvSpPr>
          <p:cNvPr id="13" name="Text 11"/>
          <p:cNvSpPr/>
          <p:nvPr/>
        </p:nvSpPr>
        <p:spPr>
          <a:xfrm>
            <a:off x="2011680" y="960120"/>
            <a:ext cx="1600200" cy="347472"/>
          </a:xfrm>
          <a:prstGeom prst="rect">
            <a:avLst/>
          </a:prstGeom>
          <a:noFill/>
          <a:ln/>
        </p:spPr>
        <p:txBody>
          <a:bodyPr wrap="square" lIns="0" tIns="0" rIns="0" bIns="0" rtlCol="0" anchor="ctr"/>
          <a:lstStyle/>
          <a:p>
            <a:pPr marL="0" indent="0" algn="ctr">
              <a:buNone/>
            </a:pPr>
            <a:r>
              <a:rPr lang="en-US" sz="1700" b="1" dirty="0">
                <a:solidFill>
                  <a:srgbClr val="C9847A"/>
                </a:solidFill>
                <a:latin typeface="Georgia" pitchFamily="34" charset="0"/>
                <a:ea typeface="Georgia" pitchFamily="34" charset="-122"/>
                <a:cs typeface="Georgia" pitchFamily="34" charset="-120"/>
              </a:rPr>
              <a:t>$0.07M</a:t>
            </a:r>
            <a:endParaRPr lang="en-US" sz="1700" dirty="0"/>
          </a:p>
        </p:txBody>
      </p:sp>
      <p:sp>
        <p:nvSpPr>
          <p:cNvPr id="14" name="Text 12"/>
          <p:cNvSpPr/>
          <p:nvPr/>
        </p:nvSpPr>
        <p:spPr>
          <a:xfrm>
            <a:off x="201168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Total Cost</a:t>
            </a:r>
            <a:endParaRPr lang="en-US" sz="800" dirty="0"/>
          </a:p>
        </p:txBody>
      </p:sp>
      <p:sp>
        <p:nvSpPr>
          <p:cNvPr id="15" name="Shape 13"/>
          <p:cNvSpPr/>
          <p:nvPr/>
        </p:nvSpPr>
        <p:spPr>
          <a:xfrm>
            <a:off x="374904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6" name="Shape 14"/>
          <p:cNvSpPr/>
          <p:nvPr/>
        </p:nvSpPr>
        <p:spPr>
          <a:xfrm>
            <a:off x="3749040" y="868680"/>
            <a:ext cx="1600200" cy="54864"/>
          </a:xfrm>
          <a:prstGeom prst="rect">
            <a:avLst/>
          </a:prstGeom>
          <a:solidFill>
            <a:srgbClr val="8FAF8F"/>
          </a:solidFill>
          <a:ln w="12700">
            <a:solidFill>
              <a:srgbClr val="8FAF8F"/>
            </a:solidFill>
            <a:prstDash val="solid"/>
          </a:ln>
        </p:spPr>
      </p:sp>
      <p:sp>
        <p:nvSpPr>
          <p:cNvPr id="17" name="Text 15"/>
          <p:cNvSpPr/>
          <p:nvPr/>
        </p:nvSpPr>
        <p:spPr>
          <a:xfrm>
            <a:off x="3749040" y="960120"/>
            <a:ext cx="1600200" cy="347472"/>
          </a:xfrm>
          <a:prstGeom prst="rect">
            <a:avLst/>
          </a:prstGeom>
          <a:noFill/>
          <a:ln/>
        </p:spPr>
        <p:txBody>
          <a:bodyPr wrap="square" lIns="0" tIns="0" rIns="0" bIns="0" rtlCol="0" anchor="ctr"/>
          <a:lstStyle/>
          <a:p>
            <a:pPr marL="0" indent="0" algn="ctr">
              <a:buNone/>
            </a:pPr>
            <a:r>
              <a:rPr lang="en-US" sz="1700" b="1" dirty="0">
                <a:solidFill>
                  <a:srgbClr val="8FAF8F"/>
                </a:solidFill>
                <a:latin typeface="Georgia" pitchFamily="34" charset="0"/>
                <a:ea typeface="Georgia" pitchFamily="34" charset="-122"/>
                <a:cs typeface="Georgia" pitchFamily="34" charset="-120"/>
              </a:rPr>
              <a:t>53.68%</a:t>
            </a:r>
            <a:endParaRPr lang="en-US" sz="1700" dirty="0"/>
          </a:p>
        </p:txBody>
      </p:sp>
      <p:sp>
        <p:nvSpPr>
          <p:cNvPr id="18" name="Text 16"/>
          <p:cNvSpPr/>
          <p:nvPr/>
        </p:nvSpPr>
        <p:spPr>
          <a:xfrm>
            <a:off x="374904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Gross Profit Margin</a:t>
            </a:r>
            <a:endParaRPr lang="en-US" sz="800" dirty="0"/>
          </a:p>
        </p:txBody>
      </p:sp>
      <p:sp>
        <p:nvSpPr>
          <p:cNvPr id="19" name="Shape 17"/>
          <p:cNvSpPr/>
          <p:nvPr/>
        </p:nvSpPr>
        <p:spPr>
          <a:xfrm>
            <a:off x="548640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0" name="Shape 18"/>
          <p:cNvSpPr/>
          <p:nvPr/>
        </p:nvSpPr>
        <p:spPr>
          <a:xfrm>
            <a:off x="5486400" y="868680"/>
            <a:ext cx="1600200" cy="54864"/>
          </a:xfrm>
          <a:prstGeom prst="rect">
            <a:avLst/>
          </a:prstGeom>
          <a:solidFill>
            <a:srgbClr val="C9A84C"/>
          </a:solidFill>
          <a:ln w="12700">
            <a:solidFill>
              <a:srgbClr val="C9A84C"/>
            </a:solidFill>
            <a:prstDash val="solid"/>
          </a:ln>
        </p:spPr>
      </p:sp>
      <p:sp>
        <p:nvSpPr>
          <p:cNvPr id="21" name="Text 19"/>
          <p:cNvSpPr/>
          <p:nvPr/>
        </p:nvSpPr>
        <p:spPr>
          <a:xfrm>
            <a:off x="5486400" y="960120"/>
            <a:ext cx="1600200" cy="347472"/>
          </a:xfrm>
          <a:prstGeom prst="rect">
            <a:avLst/>
          </a:prstGeom>
          <a:noFill/>
          <a:ln/>
        </p:spPr>
        <p:txBody>
          <a:bodyPr wrap="square" lIns="0" tIns="0" rIns="0" bIns="0" rtlCol="0" anchor="ctr"/>
          <a:lstStyle/>
          <a:p>
            <a:pPr marL="0" indent="0" algn="ctr">
              <a:buNone/>
            </a:pPr>
            <a:r>
              <a:rPr lang="en-US" sz="1700" b="1" dirty="0">
                <a:solidFill>
                  <a:srgbClr val="C9A84C"/>
                </a:solidFill>
                <a:latin typeface="Georgia" pitchFamily="34" charset="0"/>
                <a:ea typeface="Georgia" pitchFamily="34" charset="-122"/>
                <a:cs typeface="Georgia" pitchFamily="34" charset="-120"/>
              </a:rPr>
              <a:t>2,500</a:t>
            </a:r>
            <a:endParaRPr lang="en-US" sz="1700" dirty="0"/>
          </a:p>
        </p:txBody>
      </p:sp>
      <p:sp>
        <p:nvSpPr>
          <p:cNvPr id="22" name="Text 20"/>
          <p:cNvSpPr/>
          <p:nvPr/>
        </p:nvSpPr>
        <p:spPr>
          <a:xfrm>
            <a:off x="548640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Total Orders</a:t>
            </a:r>
            <a:endParaRPr lang="en-US" sz="800" dirty="0"/>
          </a:p>
        </p:txBody>
      </p:sp>
      <p:sp>
        <p:nvSpPr>
          <p:cNvPr id="23" name="Shape 21"/>
          <p:cNvSpPr/>
          <p:nvPr/>
        </p:nvSpPr>
        <p:spPr>
          <a:xfrm>
            <a:off x="722376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4" name="Shape 22"/>
          <p:cNvSpPr/>
          <p:nvPr/>
        </p:nvSpPr>
        <p:spPr>
          <a:xfrm>
            <a:off x="7223760" y="868680"/>
            <a:ext cx="1600200" cy="54864"/>
          </a:xfrm>
          <a:prstGeom prst="rect">
            <a:avLst/>
          </a:prstGeom>
          <a:solidFill>
            <a:srgbClr val="6B4F7A"/>
          </a:solidFill>
          <a:ln w="12700">
            <a:solidFill>
              <a:srgbClr val="6B4F7A"/>
            </a:solidFill>
            <a:prstDash val="solid"/>
          </a:ln>
        </p:spPr>
      </p:sp>
      <p:sp>
        <p:nvSpPr>
          <p:cNvPr id="25" name="Text 23"/>
          <p:cNvSpPr/>
          <p:nvPr/>
        </p:nvSpPr>
        <p:spPr>
          <a:xfrm>
            <a:off x="7223760" y="960120"/>
            <a:ext cx="1600200" cy="347472"/>
          </a:xfrm>
          <a:prstGeom prst="rect">
            <a:avLst/>
          </a:prstGeom>
          <a:noFill/>
          <a:ln/>
        </p:spPr>
        <p:txBody>
          <a:bodyPr wrap="square" lIns="0" tIns="0" rIns="0" bIns="0" rtlCol="0" anchor="ctr"/>
          <a:lstStyle/>
          <a:p>
            <a:pPr marL="0" indent="0" algn="ctr">
              <a:buNone/>
            </a:pPr>
            <a:r>
              <a:rPr lang="en-US" sz="1700" b="1" dirty="0">
                <a:solidFill>
                  <a:srgbClr val="6B4F7A"/>
                </a:solidFill>
                <a:latin typeface="Georgia" pitchFamily="34" charset="0"/>
                <a:ea typeface="Georgia" pitchFamily="34" charset="-122"/>
                <a:cs typeface="Georgia" pitchFamily="34" charset="-120"/>
              </a:rPr>
              <a:t>4,333</a:t>
            </a:r>
            <a:endParaRPr lang="en-US" sz="1700" dirty="0"/>
          </a:p>
        </p:txBody>
      </p:sp>
      <p:sp>
        <p:nvSpPr>
          <p:cNvPr id="26" name="Text 24"/>
          <p:cNvSpPr/>
          <p:nvPr/>
        </p:nvSpPr>
        <p:spPr>
          <a:xfrm>
            <a:off x="722376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Total Units Sold</a:t>
            </a:r>
            <a:endParaRPr lang="en-US" sz="800" dirty="0"/>
          </a:p>
        </p:txBody>
      </p:sp>
      <p:sp>
        <p:nvSpPr>
          <p:cNvPr id="27" name="Shape 25"/>
          <p:cNvSpPr/>
          <p:nvPr/>
        </p:nvSpPr>
        <p:spPr>
          <a:xfrm>
            <a:off x="274320" y="1737360"/>
            <a:ext cx="8595360" cy="324612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pic>
        <p:nvPicPr>
          <p:cNvPr id="28" name="Image 0" descr="/home/claude/sales_overview.png"/>
          <p:cNvPicPr>
            <a:picLocks noChangeAspect="1"/>
          </p:cNvPicPr>
          <p:nvPr/>
        </p:nvPicPr>
        <p:blipFill>
          <a:blip r:embed="rId3"/>
          <a:srcRect/>
          <a:stretch/>
        </p:blipFill>
        <p:spPr>
          <a:xfrm>
            <a:off x="320040" y="1764792"/>
            <a:ext cx="8503920" cy="31821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847A"/>
          </a:solidFill>
          <a:ln w="12700">
            <a:solidFill>
              <a:srgbClr val="C9847A"/>
            </a:solidFill>
            <a:prstDash val="solid"/>
          </a:ln>
        </p:spPr>
      </p:sp>
      <p:sp>
        <p:nvSpPr>
          <p:cNvPr id="3" name="Shape 1"/>
          <p:cNvSpPr/>
          <p:nvPr/>
        </p:nvSpPr>
        <p:spPr>
          <a:xfrm>
            <a:off x="0" y="73152"/>
            <a:ext cx="1005840" cy="502920"/>
          </a:xfrm>
          <a:prstGeom prst="rect">
            <a:avLst/>
          </a:prstGeom>
          <a:solidFill>
            <a:srgbClr val="3D2B4F"/>
          </a:solidFill>
          <a:ln w="12700">
            <a:solidFill>
              <a:srgbClr val="3D2B4F"/>
            </a:solidFill>
            <a:prstDash val="solid"/>
          </a:ln>
        </p:spPr>
      </p:sp>
      <p:sp>
        <p:nvSpPr>
          <p:cNvPr id="4" name="Text 2"/>
          <p:cNvSpPr/>
          <p:nvPr/>
        </p:nvSpPr>
        <p:spPr>
          <a:xfrm>
            <a:off x="0" y="73152"/>
            <a:ext cx="1005840" cy="502920"/>
          </a:xfrm>
          <a:prstGeom prst="rect">
            <a:avLst/>
          </a:prstGeom>
          <a:noFill/>
          <a:ln/>
        </p:spPr>
        <p:txBody>
          <a:bodyPr wrap="square" lIns="0" tIns="0" rIns="0" bIns="0" rtlCol="0" anchor="ctr"/>
          <a:lstStyle/>
          <a:p>
            <a:pPr marL="0" indent="0" algn="ctr">
              <a:buNone/>
            </a:pPr>
            <a:r>
              <a:rPr lang="en-US" sz="1800" b="1" dirty="0">
                <a:solidFill>
                  <a:srgbClr val="C9847A"/>
                </a:solidFill>
                <a:latin typeface="Georgia" pitchFamily="34" charset="0"/>
                <a:ea typeface="Georgia" pitchFamily="34" charset="-122"/>
                <a:cs typeface="Georgia" pitchFamily="34" charset="-120"/>
              </a:rPr>
              <a:t>03</a:t>
            </a:r>
            <a:endParaRPr lang="en-US" sz="1800" dirty="0"/>
          </a:p>
        </p:txBody>
      </p:sp>
      <p:sp>
        <p:nvSpPr>
          <p:cNvPr id="5" name="Text 3"/>
          <p:cNvSpPr/>
          <p:nvPr/>
        </p:nvSpPr>
        <p:spPr>
          <a:xfrm>
            <a:off x="1143000" y="109728"/>
            <a:ext cx="6400800" cy="457200"/>
          </a:xfrm>
          <a:prstGeom prst="rect">
            <a:avLst/>
          </a:prstGeom>
          <a:noFill/>
          <a:ln/>
        </p:spPr>
        <p:txBody>
          <a:bodyPr wrap="square" lIns="0" tIns="0" rIns="0" bIns="0" rtlCol="0" anchor="ctr"/>
          <a:lstStyle/>
          <a:p>
            <a:pPr marL="0" indent="0">
              <a:buNone/>
            </a:pPr>
            <a:r>
              <a:rPr lang="en-US" sz="2600" b="1" dirty="0">
                <a:solidFill>
                  <a:srgbClr val="3D2B4F"/>
                </a:solidFill>
                <a:latin typeface="Georgia" pitchFamily="34" charset="0"/>
                <a:ea typeface="Georgia" pitchFamily="34" charset="-122"/>
                <a:cs typeface="Georgia" pitchFamily="34" charset="-120"/>
              </a:rPr>
              <a:t>Sales Insights</a:t>
            </a:r>
            <a:endParaRPr lang="en-US" sz="2600" dirty="0"/>
          </a:p>
        </p:txBody>
      </p:sp>
      <p:sp>
        <p:nvSpPr>
          <p:cNvPr id="6" name="Shape 4"/>
          <p:cNvSpPr/>
          <p:nvPr/>
        </p:nvSpPr>
        <p:spPr>
          <a:xfrm>
            <a:off x="274320" y="77724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7" name="Shape 5"/>
          <p:cNvSpPr/>
          <p:nvPr/>
        </p:nvSpPr>
        <p:spPr>
          <a:xfrm>
            <a:off x="274320" y="777240"/>
            <a:ext cx="82296" cy="1920240"/>
          </a:xfrm>
          <a:prstGeom prst="rect">
            <a:avLst/>
          </a:prstGeom>
          <a:solidFill>
            <a:srgbClr val="3D2B4F"/>
          </a:solidFill>
          <a:ln w="12700">
            <a:solidFill>
              <a:srgbClr val="3D2B4F"/>
            </a:solidFill>
            <a:prstDash val="solid"/>
          </a:ln>
        </p:spPr>
      </p:sp>
      <p:sp>
        <p:nvSpPr>
          <p:cNvPr id="8" name="Text 6"/>
          <p:cNvSpPr/>
          <p:nvPr/>
        </p:nvSpPr>
        <p:spPr>
          <a:xfrm>
            <a:off x="438912" y="88696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960120" y="886968"/>
            <a:ext cx="3383280" cy="347472"/>
          </a:xfrm>
          <a:prstGeom prst="rect">
            <a:avLst/>
          </a:prstGeom>
          <a:noFill/>
          <a:ln/>
        </p:spPr>
        <p:txBody>
          <a:bodyPr wrap="square" lIns="0" tIns="0" rIns="0" bIns="0" rtlCol="0" anchor="ctr"/>
          <a:lstStyle/>
          <a:p>
            <a:pPr marL="0" indent="0">
              <a:buNone/>
            </a:pPr>
            <a:r>
              <a:rPr lang="en-US" sz="1400" b="1" dirty="0">
                <a:solidFill>
                  <a:srgbClr val="3D2B4F"/>
                </a:solidFill>
                <a:latin typeface="Georgia" pitchFamily="34" charset="0"/>
                <a:ea typeface="Georgia" pitchFamily="34" charset="-122"/>
                <a:cs typeface="Georgia" pitchFamily="34" charset="-120"/>
              </a:rPr>
              <a:t>Revenue Trend</a:t>
            </a:r>
            <a:endParaRPr lang="en-US" sz="1400" dirty="0"/>
          </a:p>
        </p:txBody>
      </p:sp>
      <p:sp>
        <p:nvSpPr>
          <p:cNvPr id="10" name="Text 8"/>
          <p:cNvSpPr/>
          <p:nvPr/>
        </p:nvSpPr>
        <p:spPr>
          <a:xfrm>
            <a:off x="438912" y="134416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Revenue peaked in November and December across both 2023 and 2024, confirming strong seasonal demand driven by Black Friday and Christmas shopping periods.</a:t>
            </a:r>
            <a:endParaRPr lang="en-US" sz="1050" dirty="0"/>
          </a:p>
        </p:txBody>
      </p:sp>
      <p:sp>
        <p:nvSpPr>
          <p:cNvPr id="11" name="Shape 9"/>
          <p:cNvSpPr/>
          <p:nvPr/>
        </p:nvSpPr>
        <p:spPr>
          <a:xfrm>
            <a:off x="4709160" y="77724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12" name="Shape 10"/>
          <p:cNvSpPr/>
          <p:nvPr/>
        </p:nvSpPr>
        <p:spPr>
          <a:xfrm>
            <a:off x="4709160" y="777240"/>
            <a:ext cx="82296" cy="1920240"/>
          </a:xfrm>
          <a:prstGeom prst="rect">
            <a:avLst/>
          </a:prstGeom>
          <a:solidFill>
            <a:srgbClr val="C9847A"/>
          </a:solidFill>
          <a:ln w="12700">
            <a:solidFill>
              <a:srgbClr val="C9847A"/>
            </a:solidFill>
            <a:prstDash val="solid"/>
          </a:ln>
        </p:spPr>
      </p:sp>
      <p:sp>
        <p:nvSpPr>
          <p:cNvPr id="13" name="Text 11"/>
          <p:cNvSpPr/>
          <p:nvPr/>
        </p:nvSpPr>
        <p:spPr>
          <a:xfrm>
            <a:off x="4873752" y="88696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5394960" y="886968"/>
            <a:ext cx="3383280" cy="347472"/>
          </a:xfrm>
          <a:prstGeom prst="rect">
            <a:avLst/>
          </a:prstGeom>
          <a:noFill/>
          <a:ln/>
        </p:spPr>
        <p:txBody>
          <a:bodyPr wrap="square" lIns="0" tIns="0" rIns="0" bIns="0" rtlCol="0" anchor="ctr"/>
          <a:lstStyle/>
          <a:p>
            <a:pPr marL="0" indent="0">
              <a:buNone/>
            </a:pPr>
            <a:r>
              <a:rPr lang="en-US" sz="1400" b="1" dirty="0">
                <a:solidFill>
                  <a:srgbClr val="C9847A"/>
                </a:solidFill>
                <a:latin typeface="Georgia" pitchFamily="34" charset="0"/>
                <a:ea typeface="Georgia" pitchFamily="34" charset="-122"/>
                <a:cs typeface="Georgia" pitchFamily="34" charset="-120"/>
              </a:rPr>
              <a:t>Top Category</a:t>
            </a:r>
            <a:endParaRPr lang="en-US" sz="1400" dirty="0"/>
          </a:p>
        </p:txBody>
      </p:sp>
      <p:sp>
        <p:nvSpPr>
          <p:cNvPr id="15" name="Text 13"/>
          <p:cNvSpPr/>
          <p:nvPr/>
        </p:nvSpPr>
        <p:spPr>
          <a:xfrm>
            <a:off x="4873752" y="134416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Serums consistently ranked as the highest revenue generating category, followed by Moisturizers — reflecting strong consumer preference for active skincare ingredients.</a:t>
            </a:r>
            <a:endParaRPr lang="en-US" sz="1050" dirty="0"/>
          </a:p>
        </p:txBody>
      </p:sp>
      <p:sp>
        <p:nvSpPr>
          <p:cNvPr id="16" name="Shape 14"/>
          <p:cNvSpPr/>
          <p:nvPr/>
        </p:nvSpPr>
        <p:spPr>
          <a:xfrm>
            <a:off x="274320" y="288036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17" name="Shape 15"/>
          <p:cNvSpPr/>
          <p:nvPr/>
        </p:nvSpPr>
        <p:spPr>
          <a:xfrm>
            <a:off x="274320" y="2880360"/>
            <a:ext cx="82296" cy="1920240"/>
          </a:xfrm>
          <a:prstGeom prst="rect">
            <a:avLst/>
          </a:prstGeom>
          <a:solidFill>
            <a:srgbClr val="8FAF8F"/>
          </a:solidFill>
          <a:ln w="12700">
            <a:solidFill>
              <a:srgbClr val="8FAF8F"/>
            </a:solidFill>
            <a:prstDash val="solid"/>
          </a:ln>
        </p:spPr>
      </p:sp>
      <p:sp>
        <p:nvSpPr>
          <p:cNvPr id="18" name="Text 16"/>
          <p:cNvSpPr/>
          <p:nvPr/>
        </p:nvSpPr>
        <p:spPr>
          <a:xfrm>
            <a:off x="438912" y="299008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960120" y="2990088"/>
            <a:ext cx="3383280" cy="347472"/>
          </a:xfrm>
          <a:prstGeom prst="rect">
            <a:avLst/>
          </a:prstGeom>
          <a:noFill/>
          <a:ln/>
        </p:spPr>
        <p:txBody>
          <a:bodyPr wrap="square" lIns="0" tIns="0" rIns="0" bIns="0" rtlCol="0" anchor="ctr"/>
          <a:lstStyle/>
          <a:p>
            <a:pPr marL="0" indent="0">
              <a:buNone/>
            </a:pPr>
            <a:r>
              <a:rPr lang="en-US" sz="1400" b="1" dirty="0">
                <a:solidFill>
                  <a:srgbClr val="8FAF8F"/>
                </a:solidFill>
                <a:latin typeface="Georgia" pitchFamily="34" charset="0"/>
                <a:ea typeface="Georgia" pitchFamily="34" charset="-122"/>
                <a:cs typeface="Georgia" pitchFamily="34" charset="-120"/>
              </a:rPr>
              <a:t>Best Selling Product</a:t>
            </a:r>
            <a:endParaRPr lang="en-US" sz="1400" dirty="0"/>
          </a:p>
        </p:txBody>
      </p:sp>
      <p:sp>
        <p:nvSpPr>
          <p:cNvPr id="20" name="Text 18"/>
          <p:cNvSpPr/>
          <p:nvPr/>
        </p:nvSpPr>
        <p:spPr>
          <a:xfrm>
            <a:off x="438912" y="344728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Peptide Firming Serum led all products in total revenue, indicating strong demand for anti-aging and firming formulations across all customer segments.</a:t>
            </a:r>
            <a:endParaRPr lang="en-US" sz="1050" dirty="0"/>
          </a:p>
        </p:txBody>
      </p:sp>
      <p:sp>
        <p:nvSpPr>
          <p:cNvPr id="21" name="Shape 19"/>
          <p:cNvSpPr/>
          <p:nvPr/>
        </p:nvSpPr>
        <p:spPr>
          <a:xfrm>
            <a:off x="4709160" y="288036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22" name="Shape 20"/>
          <p:cNvSpPr/>
          <p:nvPr/>
        </p:nvSpPr>
        <p:spPr>
          <a:xfrm>
            <a:off x="4709160" y="2880360"/>
            <a:ext cx="82296" cy="1920240"/>
          </a:xfrm>
          <a:prstGeom prst="rect">
            <a:avLst/>
          </a:prstGeom>
          <a:solidFill>
            <a:srgbClr val="C9A84C"/>
          </a:solidFill>
          <a:ln w="12700">
            <a:solidFill>
              <a:srgbClr val="C9A84C"/>
            </a:solidFill>
            <a:prstDash val="solid"/>
          </a:ln>
        </p:spPr>
      </p:sp>
      <p:sp>
        <p:nvSpPr>
          <p:cNvPr id="23" name="Text 21"/>
          <p:cNvSpPr/>
          <p:nvPr/>
        </p:nvSpPr>
        <p:spPr>
          <a:xfrm>
            <a:off x="4873752" y="299008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5394960" y="2990088"/>
            <a:ext cx="3383280" cy="347472"/>
          </a:xfrm>
          <a:prstGeom prst="rect">
            <a:avLst/>
          </a:prstGeom>
          <a:noFill/>
          <a:ln/>
        </p:spPr>
        <p:txBody>
          <a:bodyPr wrap="square" lIns="0" tIns="0" rIns="0" bIns="0" rtlCol="0" anchor="ctr"/>
          <a:lstStyle/>
          <a:p>
            <a:pPr marL="0" indent="0">
              <a:buNone/>
            </a:pPr>
            <a:r>
              <a:rPr lang="en-US" sz="1400" b="1" dirty="0">
                <a:solidFill>
                  <a:srgbClr val="C9A84C"/>
                </a:solidFill>
                <a:latin typeface="Georgia" pitchFamily="34" charset="0"/>
                <a:ea typeface="Georgia" pitchFamily="34" charset="-122"/>
                <a:cs typeface="Georgia" pitchFamily="34" charset="-120"/>
              </a:rPr>
              <a:t>Order Completion</a:t>
            </a:r>
            <a:endParaRPr lang="en-US" sz="1400" dirty="0"/>
          </a:p>
        </p:txBody>
      </p:sp>
      <p:sp>
        <p:nvSpPr>
          <p:cNvPr id="25" name="Text 23"/>
          <p:cNvSpPr/>
          <p:nvPr/>
        </p:nvSpPr>
        <p:spPr>
          <a:xfrm>
            <a:off x="4873752" y="344728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88.6% of all orders were completed successfully, with only 7.4% returned and 4% cancelled — reflecting strong product-market fit and customer satisfaction.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847A"/>
          </a:solidFill>
          <a:ln w="12700">
            <a:solidFill>
              <a:srgbClr val="C9847A"/>
            </a:solidFill>
            <a:prstDash val="solid"/>
          </a:ln>
        </p:spPr>
      </p:sp>
      <p:sp>
        <p:nvSpPr>
          <p:cNvPr id="3" name="Shape 1"/>
          <p:cNvSpPr/>
          <p:nvPr/>
        </p:nvSpPr>
        <p:spPr>
          <a:xfrm>
            <a:off x="0" y="73152"/>
            <a:ext cx="1005840" cy="502920"/>
          </a:xfrm>
          <a:prstGeom prst="rect">
            <a:avLst/>
          </a:prstGeom>
          <a:solidFill>
            <a:srgbClr val="3D2B4F"/>
          </a:solidFill>
          <a:ln w="12700">
            <a:solidFill>
              <a:srgbClr val="3D2B4F"/>
            </a:solidFill>
            <a:prstDash val="solid"/>
          </a:ln>
        </p:spPr>
      </p:sp>
      <p:sp>
        <p:nvSpPr>
          <p:cNvPr id="4" name="Text 2"/>
          <p:cNvSpPr/>
          <p:nvPr/>
        </p:nvSpPr>
        <p:spPr>
          <a:xfrm>
            <a:off x="0" y="73152"/>
            <a:ext cx="1005840" cy="502920"/>
          </a:xfrm>
          <a:prstGeom prst="rect">
            <a:avLst/>
          </a:prstGeom>
          <a:noFill/>
          <a:ln/>
        </p:spPr>
        <p:txBody>
          <a:bodyPr wrap="square" lIns="0" tIns="0" rIns="0" bIns="0" rtlCol="0" anchor="ctr"/>
          <a:lstStyle/>
          <a:p>
            <a:pPr marL="0" indent="0" algn="ctr">
              <a:buNone/>
            </a:pPr>
            <a:r>
              <a:rPr lang="en-US" sz="1800" b="1" dirty="0">
                <a:solidFill>
                  <a:srgbClr val="C9847A"/>
                </a:solidFill>
                <a:latin typeface="Georgia" pitchFamily="34" charset="0"/>
                <a:ea typeface="Georgia" pitchFamily="34" charset="-122"/>
                <a:cs typeface="Georgia" pitchFamily="34" charset="-120"/>
              </a:rPr>
              <a:t>04</a:t>
            </a:r>
            <a:endParaRPr lang="en-US" sz="1800" dirty="0"/>
          </a:p>
        </p:txBody>
      </p:sp>
      <p:sp>
        <p:nvSpPr>
          <p:cNvPr id="5" name="Text 3"/>
          <p:cNvSpPr/>
          <p:nvPr/>
        </p:nvSpPr>
        <p:spPr>
          <a:xfrm>
            <a:off x="1143000" y="109728"/>
            <a:ext cx="7772400" cy="457200"/>
          </a:xfrm>
          <a:prstGeom prst="rect">
            <a:avLst/>
          </a:prstGeom>
          <a:noFill/>
          <a:ln/>
        </p:spPr>
        <p:txBody>
          <a:bodyPr wrap="square" lIns="0" tIns="0" rIns="0" bIns="0" rtlCol="0" anchor="ctr"/>
          <a:lstStyle/>
          <a:p>
            <a:pPr marL="0" indent="0">
              <a:buNone/>
            </a:pPr>
            <a:r>
              <a:rPr lang="en-US" sz="2400" b="1" dirty="0">
                <a:solidFill>
                  <a:srgbClr val="3D2B4F"/>
                </a:solidFill>
                <a:latin typeface="Georgia" pitchFamily="34" charset="0"/>
                <a:ea typeface="Georgia" pitchFamily="34" charset="-122"/>
                <a:cs typeface="Georgia" pitchFamily="34" charset="-120"/>
              </a:rPr>
              <a:t>Customer &amp; Market Intelligence</a:t>
            </a:r>
            <a:endParaRPr lang="en-US" sz="2400" dirty="0"/>
          </a:p>
        </p:txBody>
      </p:sp>
      <p:sp>
        <p:nvSpPr>
          <p:cNvPr id="6" name="Text 4"/>
          <p:cNvSpPr/>
          <p:nvPr/>
        </p:nvSpPr>
        <p:spPr>
          <a:xfrm>
            <a:off x="1143000" y="548640"/>
            <a:ext cx="7772400" cy="256032"/>
          </a:xfrm>
          <a:prstGeom prst="rect">
            <a:avLst/>
          </a:prstGeom>
          <a:noFill/>
          <a:ln/>
        </p:spPr>
        <p:txBody>
          <a:bodyPr wrap="square" lIns="0" tIns="0" rIns="0" bIns="0" rtlCol="0" anchor="ctr"/>
          <a:lstStyle/>
          <a:p>
            <a:pPr marL="0" indent="0">
              <a:buNone/>
            </a:pPr>
            <a:r>
              <a:rPr lang="en-US" sz="1000" i="1" dirty="0">
                <a:solidFill>
                  <a:srgbClr val="3C3C3C"/>
                </a:solidFill>
                <a:latin typeface="Calibri" pitchFamily="34" charset="0"/>
                <a:ea typeface="Calibri" pitchFamily="34" charset="-122"/>
                <a:cs typeface="Calibri" pitchFamily="34" charset="-120"/>
              </a:rPr>
              <a:t>Customer segments, purchasing behaviour, channel performance &amp; global reach  |  2023 — 2024</a:t>
            </a:r>
            <a:endParaRPr lang="en-US" sz="1000" dirty="0"/>
          </a:p>
        </p:txBody>
      </p:sp>
      <p:sp>
        <p:nvSpPr>
          <p:cNvPr id="7" name="Shape 5"/>
          <p:cNvSpPr/>
          <p:nvPr/>
        </p:nvSpPr>
        <p:spPr>
          <a:xfrm>
            <a:off x="27432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8" name="Shape 6"/>
          <p:cNvSpPr/>
          <p:nvPr/>
        </p:nvSpPr>
        <p:spPr>
          <a:xfrm>
            <a:off x="274320" y="868680"/>
            <a:ext cx="1600200" cy="54864"/>
          </a:xfrm>
          <a:prstGeom prst="rect">
            <a:avLst/>
          </a:prstGeom>
          <a:solidFill>
            <a:srgbClr val="3D2B4F"/>
          </a:solidFill>
          <a:ln w="12700">
            <a:solidFill>
              <a:srgbClr val="3D2B4F"/>
            </a:solidFill>
            <a:prstDash val="solid"/>
          </a:ln>
        </p:spPr>
      </p:sp>
      <p:sp>
        <p:nvSpPr>
          <p:cNvPr id="9" name="Text 7"/>
          <p:cNvSpPr/>
          <p:nvPr/>
        </p:nvSpPr>
        <p:spPr>
          <a:xfrm>
            <a:off x="274320" y="960120"/>
            <a:ext cx="1600200" cy="347472"/>
          </a:xfrm>
          <a:prstGeom prst="rect">
            <a:avLst/>
          </a:prstGeom>
          <a:noFill/>
          <a:ln/>
        </p:spPr>
        <p:txBody>
          <a:bodyPr wrap="square" lIns="0" tIns="0" rIns="0" bIns="0" rtlCol="0" anchor="ctr"/>
          <a:lstStyle/>
          <a:p>
            <a:pPr marL="0" indent="0" algn="ctr">
              <a:buNone/>
            </a:pPr>
            <a:r>
              <a:rPr lang="en-US" sz="1700" b="1" dirty="0">
                <a:solidFill>
                  <a:srgbClr val="3D2B4F"/>
                </a:solidFill>
                <a:latin typeface="Georgia" pitchFamily="34" charset="0"/>
                <a:ea typeface="Georgia" pitchFamily="34" charset="-122"/>
                <a:cs typeface="Georgia" pitchFamily="34" charset="-120"/>
              </a:rPr>
              <a:t>767</a:t>
            </a:r>
            <a:endParaRPr lang="en-US" sz="1700" dirty="0"/>
          </a:p>
        </p:txBody>
      </p:sp>
      <p:sp>
        <p:nvSpPr>
          <p:cNvPr id="10" name="Text 8"/>
          <p:cNvSpPr/>
          <p:nvPr/>
        </p:nvSpPr>
        <p:spPr>
          <a:xfrm>
            <a:off x="27432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Total Customers</a:t>
            </a:r>
            <a:endParaRPr lang="en-US" sz="800" dirty="0"/>
          </a:p>
        </p:txBody>
      </p:sp>
      <p:sp>
        <p:nvSpPr>
          <p:cNvPr id="11" name="Shape 9"/>
          <p:cNvSpPr/>
          <p:nvPr/>
        </p:nvSpPr>
        <p:spPr>
          <a:xfrm>
            <a:off x="201168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2" name="Shape 10"/>
          <p:cNvSpPr/>
          <p:nvPr/>
        </p:nvSpPr>
        <p:spPr>
          <a:xfrm>
            <a:off x="2011680" y="868680"/>
            <a:ext cx="1600200" cy="54864"/>
          </a:xfrm>
          <a:prstGeom prst="rect">
            <a:avLst/>
          </a:prstGeom>
          <a:solidFill>
            <a:srgbClr val="C9847A"/>
          </a:solidFill>
          <a:ln w="12700">
            <a:solidFill>
              <a:srgbClr val="C9847A"/>
            </a:solidFill>
            <a:prstDash val="solid"/>
          </a:ln>
        </p:spPr>
      </p:sp>
      <p:sp>
        <p:nvSpPr>
          <p:cNvPr id="13" name="Text 11"/>
          <p:cNvSpPr/>
          <p:nvPr/>
        </p:nvSpPr>
        <p:spPr>
          <a:xfrm>
            <a:off x="2011680" y="960120"/>
            <a:ext cx="1600200" cy="347472"/>
          </a:xfrm>
          <a:prstGeom prst="rect">
            <a:avLst/>
          </a:prstGeom>
          <a:noFill/>
          <a:ln/>
        </p:spPr>
        <p:txBody>
          <a:bodyPr wrap="square" lIns="0" tIns="0" rIns="0" bIns="0" rtlCol="0" anchor="ctr"/>
          <a:lstStyle/>
          <a:p>
            <a:pPr marL="0" indent="0" algn="ctr">
              <a:buNone/>
            </a:pPr>
            <a:r>
              <a:rPr lang="en-US" sz="1700" b="1" dirty="0">
                <a:solidFill>
                  <a:srgbClr val="C9847A"/>
                </a:solidFill>
                <a:latin typeface="Georgia" pitchFamily="34" charset="0"/>
                <a:ea typeface="Georgia" pitchFamily="34" charset="-122"/>
                <a:cs typeface="Georgia" pitchFamily="34" charset="-120"/>
              </a:rPr>
              <a:t>217</a:t>
            </a:r>
            <a:endParaRPr lang="en-US" sz="1700" dirty="0"/>
          </a:p>
        </p:txBody>
      </p:sp>
      <p:sp>
        <p:nvSpPr>
          <p:cNvPr id="14" name="Text 12"/>
          <p:cNvSpPr/>
          <p:nvPr/>
        </p:nvSpPr>
        <p:spPr>
          <a:xfrm>
            <a:off x="201168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New Customers</a:t>
            </a:r>
            <a:endParaRPr lang="en-US" sz="800" dirty="0"/>
          </a:p>
        </p:txBody>
      </p:sp>
      <p:sp>
        <p:nvSpPr>
          <p:cNvPr id="15" name="Shape 13"/>
          <p:cNvSpPr/>
          <p:nvPr/>
        </p:nvSpPr>
        <p:spPr>
          <a:xfrm>
            <a:off x="374904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6" name="Shape 14"/>
          <p:cNvSpPr/>
          <p:nvPr/>
        </p:nvSpPr>
        <p:spPr>
          <a:xfrm>
            <a:off x="3749040" y="868680"/>
            <a:ext cx="1600200" cy="54864"/>
          </a:xfrm>
          <a:prstGeom prst="rect">
            <a:avLst/>
          </a:prstGeom>
          <a:solidFill>
            <a:srgbClr val="8FAF8F"/>
          </a:solidFill>
          <a:ln w="12700">
            <a:solidFill>
              <a:srgbClr val="8FAF8F"/>
            </a:solidFill>
            <a:prstDash val="solid"/>
          </a:ln>
        </p:spPr>
      </p:sp>
      <p:sp>
        <p:nvSpPr>
          <p:cNvPr id="17" name="Text 15"/>
          <p:cNvSpPr/>
          <p:nvPr/>
        </p:nvSpPr>
        <p:spPr>
          <a:xfrm>
            <a:off x="3749040" y="960120"/>
            <a:ext cx="1600200" cy="347472"/>
          </a:xfrm>
          <a:prstGeom prst="rect">
            <a:avLst/>
          </a:prstGeom>
          <a:noFill/>
          <a:ln/>
        </p:spPr>
        <p:txBody>
          <a:bodyPr wrap="square" lIns="0" tIns="0" rIns="0" bIns="0" rtlCol="0" anchor="ctr"/>
          <a:lstStyle/>
          <a:p>
            <a:pPr marL="0" indent="0" algn="ctr">
              <a:buNone/>
            </a:pPr>
            <a:r>
              <a:rPr lang="en-US" sz="1700" b="1" dirty="0">
                <a:solidFill>
                  <a:srgbClr val="8FAF8F"/>
                </a:solidFill>
                <a:latin typeface="Georgia" pitchFamily="34" charset="0"/>
                <a:ea typeface="Georgia" pitchFamily="34" charset="-122"/>
                <a:cs typeface="Georgia" pitchFamily="34" charset="-120"/>
              </a:rPr>
              <a:t>565</a:t>
            </a:r>
            <a:endParaRPr lang="en-US" sz="1700" dirty="0"/>
          </a:p>
        </p:txBody>
      </p:sp>
      <p:sp>
        <p:nvSpPr>
          <p:cNvPr id="18" name="Text 16"/>
          <p:cNvSpPr/>
          <p:nvPr/>
        </p:nvSpPr>
        <p:spPr>
          <a:xfrm>
            <a:off x="374904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Returning Customers</a:t>
            </a:r>
            <a:endParaRPr lang="en-US" sz="800" dirty="0"/>
          </a:p>
        </p:txBody>
      </p:sp>
      <p:sp>
        <p:nvSpPr>
          <p:cNvPr id="19" name="Shape 17"/>
          <p:cNvSpPr/>
          <p:nvPr/>
        </p:nvSpPr>
        <p:spPr>
          <a:xfrm>
            <a:off x="548640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0" name="Shape 18"/>
          <p:cNvSpPr/>
          <p:nvPr/>
        </p:nvSpPr>
        <p:spPr>
          <a:xfrm>
            <a:off x="5486400" y="868680"/>
            <a:ext cx="1600200" cy="54864"/>
          </a:xfrm>
          <a:prstGeom prst="rect">
            <a:avLst/>
          </a:prstGeom>
          <a:solidFill>
            <a:srgbClr val="C9A84C"/>
          </a:solidFill>
          <a:ln w="12700">
            <a:solidFill>
              <a:srgbClr val="C9A84C"/>
            </a:solidFill>
            <a:prstDash val="solid"/>
          </a:ln>
        </p:spPr>
      </p:sp>
      <p:sp>
        <p:nvSpPr>
          <p:cNvPr id="21" name="Text 19"/>
          <p:cNvSpPr/>
          <p:nvPr/>
        </p:nvSpPr>
        <p:spPr>
          <a:xfrm>
            <a:off x="5486400" y="960120"/>
            <a:ext cx="1600200" cy="347472"/>
          </a:xfrm>
          <a:prstGeom prst="rect">
            <a:avLst/>
          </a:prstGeom>
          <a:noFill/>
          <a:ln/>
        </p:spPr>
        <p:txBody>
          <a:bodyPr wrap="square" lIns="0" tIns="0" rIns="0" bIns="0" rtlCol="0" anchor="ctr"/>
          <a:lstStyle/>
          <a:p>
            <a:pPr marL="0" indent="0" algn="ctr">
              <a:buNone/>
            </a:pPr>
            <a:r>
              <a:rPr lang="en-US" sz="1700" b="1" dirty="0">
                <a:solidFill>
                  <a:srgbClr val="C9A84C"/>
                </a:solidFill>
                <a:latin typeface="Georgia" pitchFamily="34" charset="0"/>
                <a:ea typeface="Georgia" pitchFamily="34" charset="-122"/>
                <a:cs typeface="Georgia" pitchFamily="34" charset="-120"/>
              </a:rPr>
              <a:t>74%</a:t>
            </a:r>
            <a:endParaRPr lang="en-US" sz="1700" dirty="0"/>
          </a:p>
        </p:txBody>
      </p:sp>
      <p:sp>
        <p:nvSpPr>
          <p:cNvPr id="22" name="Text 20"/>
          <p:cNvSpPr/>
          <p:nvPr/>
        </p:nvSpPr>
        <p:spPr>
          <a:xfrm>
            <a:off x="548640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Retention Rate</a:t>
            </a:r>
            <a:endParaRPr lang="en-US" sz="800" dirty="0"/>
          </a:p>
        </p:txBody>
      </p:sp>
      <p:sp>
        <p:nvSpPr>
          <p:cNvPr id="23" name="Shape 21"/>
          <p:cNvSpPr/>
          <p:nvPr/>
        </p:nvSpPr>
        <p:spPr>
          <a:xfrm>
            <a:off x="7223760" y="868680"/>
            <a:ext cx="1600200" cy="77724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4" name="Shape 22"/>
          <p:cNvSpPr/>
          <p:nvPr/>
        </p:nvSpPr>
        <p:spPr>
          <a:xfrm>
            <a:off x="7223760" y="868680"/>
            <a:ext cx="1600200" cy="54864"/>
          </a:xfrm>
          <a:prstGeom prst="rect">
            <a:avLst/>
          </a:prstGeom>
          <a:solidFill>
            <a:srgbClr val="6B4F7A"/>
          </a:solidFill>
          <a:ln w="12700">
            <a:solidFill>
              <a:srgbClr val="6B4F7A"/>
            </a:solidFill>
            <a:prstDash val="solid"/>
          </a:ln>
        </p:spPr>
      </p:sp>
      <p:sp>
        <p:nvSpPr>
          <p:cNvPr id="25" name="Text 23"/>
          <p:cNvSpPr/>
          <p:nvPr/>
        </p:nvSpPr>
        <p:spPr>
          <a:xfrm>
            <a:off x="7223760" y="960120"/>
            <a:ext cx="1600200" cy="347472"/>
          </a:xfrm>
          <a:prstGeom prst="rect">
            <a:avLst/>
          </a:prstGeom>
          <a:noFill/>
          <a:ln/>
        </p:spPr>
        <p:txBody>
          <a:bodyPr wrap="square" lIns="0" tIns="0" rIns="0" bIns="0" rtlCol="0" anchor="ctr"/>
          <a:lstStyle/>
          <a:p>
            <a:pPr marL="0" indent="0" algn="ctr">
              <a:buNone/>
            </a:pPr>
            <a:r>
              <a:rPr lang="en-US" sz="1700" b="1" dirty="0">
                <a:solidFill>
                  <a:srgbClr val="6B4F7A"/>
                </a:solidFill>
                <a:latin typeface="Georgia" pitchFamily="34" charset="0"/>
                <a:ea typeface="Georgia" pitchFamily="34" charset="-122"/>
                <a:cs typeface="Georgia" pitchFamily="34" charset="-120"/>
              </a:rPr>
              <a:t>2.89</a:t>
            </a:r>
            <a:endParaRPr lang="en-US" sz="1700" dirty="0"/>
          </a:p>
        </p:txBody>
      </p:sp>
      <p:sp>
        <p:nvSpPr>
          <p:cNvPr id="26" name="Text 24"/>
          <p:cNvSpPr/>
          <p:nvPr/>
        </p:nvSpPr>
        <p:spPr>
          <a:xfrm>
            <a:off x="7223760" y="1335024"/>
            <a:ext cx="1600200" cy="256032"/>
          </a:xfrm>
          <a:prstGeom prst="rect">
            <a:avLst/>
          </a:prstGeom>
          <a:noFill/>
          <a:ln/>
        </p:spPr>
        <p:txBody>
          <a:bodyPr wrap="square" lIns="0" tIns="0" rIns="0" bIns="0" rtlCol="0" anchor="ctr"/>
          <a:lstStyle/>
          <a:p>
            <a:pPr marL="0" indent="0" algn="ctr">
              <a:buNone/>
            </a:pPr>
            <a:r>
              <a:rPr lang="en-US" sz="800" dirty="0">
                <a:solidFill>
                  <a:srgbClr val="3C3C3C"/>
                </a:solidFill>
                <a:latin typeface="Calibri" pitchFamily="34" charset="0"/>
                <a:ea typeface="Calibri" pitchFamily="34" charset="-122"/>
                <a:cs typeface="Calibri" pitchFamily="34" charset="-120"/>
              </a:rPr>
              <a:t>Avg Purchase Frequency</a:t>
            </a:r>
            <a:endParaRPr lang="en-US" sz="800" dirty="0"/>
          </a:p>
        </p:txBody>
      </p:sp>
      <p:sp>
        <p:nvSpPr>
          <p:cNvPr id="27" name="Shape 25"/>
          <p:cNvSpPr/>
          <p:nvPr/>
        </p:nvSpPr>
        <p:spPr>
          <a:xfrm>
            <a:off x="274320" y="1737360"/>
            <a:ext cx="8595360" cy="3246120"/>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pic>
        <p:nvPicPr>
          <p:cNvPr id="28" name="Image 0" descr="/home/claude/customer_markets.png"/>
          <p:cNvPicPr>
            <a:picLocks noChangeAspect="1"/>
          </p:cNvPicPr>
          <p:nvPr/>
        </p:nvPicPr>
        <p:blipFill>
          <a:blip r:embed="rId3"/>
          <a:srcRect/>
          <a:stretch/>
        </p:blipFill>
        <p:spPr>
          <a:xfrm>
            <a:off x="320040" y="1764792"/>
            <a:ext cx="8503920" cy="31821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847A"/>
          </a:solidFill>
          <a:ln w="12700">
            <a:solidFill>
              <a:srgbClr val="C9847A"/>
            </a:solidFill>
            <a:prstDash val="solid"/>
          </a:ln>
        </p:spPr>
      </p:sp>
      <p:sp>
        <p:nvSpPr>
          <p:cNvPr id="3" name="Shape 1"/>
          <p:cNvSpPr/>
          <p:nvPr/>
        </p:nvSpPr>
        <p:spPr>
          <a:xfrm>
            <a:off x="0" y="73152"/>
            <a:ext cx="1005840" cy="502920"/>
          </a:xfrm>
          <a:prstGeom prst="rect">
            <a:avLst/>
          </a:prstGeom>
          <a:solidFill>
            <a:srgbClr val="3D2B4F"/>
          </a:solidFill>
          <a:ln w="12700">
            <a:solidFill>
              <a:srgbClr val="3D2B4F"/>
            </a:solidFill>
            <a:prstDash val="solid"/>
          </a:ln>
        </p:spPr>
      </p:sp>
      <p:sp>
        <p:nvSpPr>
          <p:cNvPr id="4" name="Text 2"/>
          <p:cNvSpPr/>
          <p:nvPr/>
        </p:nvSpPr>
        <p:spPr>
          <a:xfrm>
            <a:off x="0" y="73152"/>
            <a:ext cx="1005840" cy="502920"/>
          </a:xfrm>
          <a:prstGeom prst="rect">
            <a:avLst/>
          </a:prstGeom>
          <a:noFill/>
          <a:ln/>
        </p:spPr>
        <p:txBody>
          <a:bodyPr wrap="square" lIns="0" tIns="0" rIns="0" bIns="0" rtlCol="0" anchor="ctr"/>
          <a:lstStyle/>
          <a:p>
            <a:pPr marL="0" indent="0" algn="ctr">
              <a:buNone/>
            </a:pPr>
            <a:r>
              <a:rPr lang="en-US" sz="1800" b="1" dirty="0">
                <a:solidFill>
                  <a:srgbClr val="C9847A"/>
                </a:solidFill>
                <a:latin typeface="Georgia" pitchFamily="34" charset="0"/>
                <a:ea typeface="Georgia" pitchFamily="34" charset="-122"/>
                <a:cs typeface="Georgia" pitchFamily="34" charset="-120"/>
              </a:rPr>
              <a:t>04</a:t>
            </a:r>
            <a:endParaRPr lang="en-US" sz="1800" dirty="0"/>
          </a:p>
        </p:txBody>
      </p:sp>
      <p:sp>
        <p:nvSpPr>
          <p:cNvPr id="5" name="Text 3"/>
          <p:cNvSpPr/>
          <p:nvPr/>
        </p:nvSpPr>
        <p:spPr>
          <a:xfrm>
            <a:off x="1143000" y="109728"/>
            <a:ext cx="7315200" cy="457200"/>
          </a:xfrm>
          <a:prstGeom prst="rect">
            <a:avLst/>
          </a:prstGeom>
          <a:noFill/>
          <a:ln/>
        </p:spPr>
        <p:txBody>
          <a:bodyPr wrap="square" lIns="0" tIns="0" rIns="0" bIns="0" rtlCol="0" anchor="ctr"/>
          <a:lstStyle/>
          <a:p>
            <a:pPr marL="0" indent="0">
              <a:buNone/>
            </a:pPr>
            <a:r>
              <a:rPr lang="en-US" sz="2600" b="1" dirty="0">
                <a:solidFill>
                  <a:srgbClr val="3D2B4F"/>
                </a:solidFill>
                <a:latin typeface="Georgia" pitchFamily="34" charset="0"/>
                <a:ea typeface="Georgia" pitchFamily="34" charset="-122"/>
                <a:cs typeface="Georgia" pitchFamily="34" charset="-120"/>
              </a:rPr>
              <a:t>Customer &amp; Market Insights</a:t>
            </a:r>
            <a:endParaRPr lang="en-US" sz="2600" dirty="0"/>
          </a:p>
        </p:txBody>
      </p:sp>
      <p:sp>
        <p:nvSpPr>
          <p:cNvPr id="6" name="Shape 4"/>
          <p:cNvSpPr/>
          <p:nvPr/>
        </p:nvSpPr>
        <p:spPr>
          <a:xfrm>
            <a:off x="274320" y="77724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7" name="Shape 5"/>
          <p:cNvSpPr/>
          <p:nvPr/>
        </p:nvSpPr>
        <p:spPr>
          <a:xfrm>
            <a:off x="274320" y="777240"/>
            <a:ext cx="82296" cy="1920240"/>
          </a:xfrm>
          <a:prstGeom prst="rect">
            <a:avLst/>
          </a:prstGeom>
          <a:solidFill>
            <a:srgbClr val="3D2B4F"/>
          </a:solidFill>
          <a:ln w="12700">
            <a:solidFill>
              <a:srgbClr val="3D2B4F"/>
            </a:solidFill>
            <a:prstDash val="solid"/>
          </a:ln>
        </p:spPr>
      </p:sp>
      <p:sp>
        <p:nvSpPr>
          <p:cNvPr id="8" name="Text 6"/>
          <p:cNvSpPr/>
          <p:nvPr/>
        </p:nvSpPr>
        <p:spPr>
          <a:xfrm>
            <a:off x="438912" y="88696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960120" y="886968"/>
            <a:ext cx="3383280" cy="347472"/>
          </a:xfrm>
          <a:prstGeom prst="rect">
            <a:avLst/>
          </a:prstGeom>
          <a:noFill/>
          <a:ln/>
        </p:spPr>
        <p:txBody>
          <a:bodyPr wrap="square" lIns="0" tIns="0" rIns="0" bIns="0" rtlCol="0" anchor="ctr"/>
          <a:lstStyle/>
          <a:p>
            <a:pPr marL="0" indent="0">
              <a:buNone/>
            </a:pPr>
            <a:r>
              <a:rPr lang="en-US" sz="1400" b="1" dirty="0">
                <a:solidFill>
                  <a:srgbClr val="3D2B4F"/>
                </a:solidFill>
                <a:latin typeface="Georgia" pitchFamily="34" charset="0"/>
                <a:ea typeface="Georgia" pitchFamily="34" charset="-122"/>
                <a:cs typeface="Georgia" pitchFamily="34" charset="-120"/>
              </a:rPr>
              <a:t>Customer Retention</a:t>
            </a:r>
            <a:endParaRPr lang="en-US" sz="1400" dirty="0"/>
          </a:p>
        </p:txBody>
      </p:sp>
      <p:sp>
        <p:nvSpPr>
          <p:cNvPr id="10" name="Text 8"/>
          <p:cNvSpPr/>
          <p:nvPr/>
        </p:nvSpPr>
        <p:spPr>
          <a:xfrm>
            <a:off x="438912" y="134416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74% retention rate indicates strong brand loyalty. Returning, Loyal and VIP segments combined account for the majority of customers, suggesting effective post-purchase engagement.</a:t>
            </a:r>
            <a:endParaRPr lang="en-US" sz="1050" dirty="0"/>
          </a:p>
        </p:txBody>
      </p:sp>
      <p:sp>
        <p:nvSpPr>
          <p:cNvPr id="11" name="Shape 9"/>
          <p:cNvSpPr/>
          <p:nvPr/>
        </p:nvSpPr>
        <p:spPr>
          <a:xfrm>
            <a:off x="4709160" y="77724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12" name="Shape 10"/>
          <p:cNvSpPr/>
          <p:nvPr/>
        </p:nvSpPr>
        <p:spPr>
          <a:xfrm>
            <a:off x="4709160" y="777240"/>
            <a:ext cx="82296" cy="1920240"/>
          </a:xfrm>
          <a:prstGeom prst="rect">
            <a:avLst/>
          </a:prstGeom>
          <a:solidFill>
            <a:srgbClr val="C9847A"/>
          </a:solidFill>
          <a:ln w="12700">
            <a:solidFill>
              <a:srgbClr val="C9847A"/>
            </a:solidFill>
            <a:prstDash val="solid"/>
          </a:ln>
        </p:spPr>
      </p:sp>
      <p:sp>
        <p:nvSpPr>
          <p:cNvPr id="13" name="Text 11"/>
          <p:cNvSpPr/>
          <p:nvPr/>
        </p:nvSpPr>
        <p:spPr>
          <a:xfrm>
            <a:off x="4873752" y="88696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5394960" y="886968"/>
            <a:ext cx="3383280" cy="347472"/>
          </a:xfrm>
          <a:prstGeom prst="rect">
            <a:avLst/>
          </a:prstGeom>
          <a:noFill/>
          <a:ln/>
        </p:spPr>
        <p:txBody>
          <a:bodyPr wrap="square" lIns="0" tIns="0" rIns="0" bIns="0" rtlCol="0" anchor="ctr"/>
          <a:lstStyle/>
          <a:p>
            <a:pPr marL="0" indent="0">
              <a:buNone/>
            </a:pPr>
            <a:r>
              <a:rPr lang="en-US" sz="1400" b="1" dirty="0">
                <a:solidFill>
                  <a:srgbClr val="C9847A"/>
                </a:solidFill>
                <a:latin typeface="Georgia" pitchFamily="34" charset="0"/>
                <a:ea typeface="Georgia" pitchFamily="34" charset="-122"/>
                <a:cs typeface="Georgia" pitchFamily="34" charset="-120"/>
              </a:rPr>
              <a:t>Global Market Reach</a:t>
            </a:r>
            <a:endParaRPr lang="en-US" sz="1400" dirty="0"/>
          </a:p>
        </p:txBody>
      </p:sp>
      <p:sp>
        <p:nvSpPr>
          <p:cNvPr id="15" name="Text 13"/>
          <p:cNvSpPr/>
          <p:nvPr/>
        </p:nvSpPr>
        <p:spPr>
          <a:xfrm>
            <a:off x="4873752" y="134416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GlowCo generates revenue across 16 countries spanning 5 regions. The United States, Canada and United Kingdom are the highest gross profit contributing markets.</a:t>
            </a:r>
            <a:endParaRPr lang="en-US" sz="1050" dirty="0"/>
          </a:p>
        </p:txBody>
      </p:sp>
      <p:sp>
        <p:nvSpPr>
          <p:cNvPr id="16" name="Shape 14"/>
          <p:cNvSpPr/>
          <p:nvPr/>
        </p:nvSpPr>
        <p:spPr>
          <a:xfrm>
            <a:off x="274320" y="288036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17" name="Shape 15"/>
          <p:cNvSpPr/>
          <p:nvPr/>
        </p:nvSpPr>
        <p:spPr>
          <a:xfrm>
            <a:off x="274320" y="2880360"/>
            <a:ext cx="82296" cy="1920240"/>
          </a:xfrm>
          <a:prstGeom prst="rect">
            <a:avLst/>
          </a:prstGeom>
          <a:solidFill>
            <a:srgbClr val="8FAF8F"/>
          </a:solidFill>
          <a:ln w="12700">
            <a:solidFill>
              <a:srgbClr val="8FAF8F"/>
            </a:solidFill>
            <a:prstDash val="solid"/>
          </a:ln>
        </p:spPr>
      </p:sp>
      <p:sp>
        <p:nvSpPr>
          <p:cNvPr id="18" name="Text 16"/>
          <p:cNvSpPr/>
          <p:nvPr/>
        </p:nvSpPr>
        <p:spPr>
          <a:xfrm>
            <a:off x="438912" y="299008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960120" y="2990088"/>
            <a:ext cx="3383280" cy="347472"/>
          </a:xfrm>
          <a:prstGeom prst="rect">
            <a:avLst/>
          </a:prstGeom>
          <a:noFill/>
          <a:ln/>
        </p:spPr>
        <p:txBody>
          <a:bodyPr wrap="square" lIns="0" tIns="0" rIns="0" bIns="0" rtlCol="0" anchor="ctr"/>
          <a:lstStyle/>
          <a:p>
            <a:pPr marL="0" indent="0">
              <a:buNone/>
            </a:pPr>
            <a:r>
              <a:rPr lang="en-US" sz="1400" b="1" dirty="0">
                <a:solidFill>
                  <a:srgbClr val="8FAF8F"/>
                </a:solidFill>
                <a:latin typeface="Georgia" pitchFamily="34" charset="0"/>
                <a:ea typeface="Georgia" pitchFamily="34" charset="-122"/>
                <a:cs typeface="Georgia" pitchFamily="34" charset="-120"/>
              </a:rPr>
              <a:t>Top Sales Channel</a:t>
            </a:r>
            <a:endParaRPr lang="en-US" sz="1400" dirty="0"/>
          </a:p>
        </p:txBody>
      </p:sp>
      <p:sp>
        <p:nvSpPr>
          <p:cNvPr id="20" name="Text 18"/>
          <p:cNvSpPr/>
          <p:nvPr/>
        </p:nvSpPr>
        <p:spPr>
          <a:xfrm>
            <a:off x="438912" y="344728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The Website remains the dominant revenue channel, followed by Instagram Shop and TikTok Shop — highlighting the growing importance of social commerce for beauty brands.</a:t>
            </a:r>
            <a:endParaRPr lang="en-US" sz="1050" dirty="0"/>
          </a:p>
        </p:txBody>
      </p:sp>
      <p:sp>
        <p:nvSpPr>
          <p:cNvPr id="21" name="Shape 19"/>
          <p:cNvSpPr/>
          <p:nvPr/>
        </p:nvSpPr>
        <p:spPr>
          <a:xfrm>
            <a:off x="4709160" y="2880360"/>
            <a:ext cx="4206240" cy="1920240"/>
          </a:xfrm>
          <a:prstGeom prst="rect">
            <a:avLst/>
          </a:prstGeom>
          <a:solidFill>
            <a:srgbClr val="FDF6F0"/>
          </a:solidFill>
          <a:ln w="12700">
            <a:solidFill>
              <a:srgbClr val="E8C9C0"/>
            </a:solidFill>
            <a:prstDash val="solid"/>
          </a:ln>
          <a:effectLst>
            <a:outerShdw blurRad="101600" dist="38100" dir="8100000" algn="bl" rotWithShape="0">
              <a:srgbClr val="000000">
                <a:alpha val="12000"/>
              </a:srgbClr>
            </a:outerShdw>
          </a:effectLst>
        </p:spPr>
      </p:sp>
      <p:sp>
        <p:nvSpPr>
          <p:cNvPr id="22" name="Shape 20"/>
          <p:cNvSpPr/>
          <p:nvPr/>
        </p:nvSpPr>
        <p:spPr>
          <a:xfrm>
            <a:off x="4709160" y="2880360"/>
            <a:ext cx="82296" cy="1920240"/>
          </a:xfrm>
          <a:prstGeom prst="rect">
            <a:avLst/>
          </a:prstGeom>
          <a:solidFill>
            <a:srgbClr val="C9A84C"/>
          </a:solidFill>
          <a:ln w="12700">
            <a:solidFill>
              <a:srgbClr val="C9A84C"/>
            </a:solidFill>
            <a:prstDash val="solid"/>
          </a:ln>
        </p:spPr>
      </p:sp>
      <p:sp>
        <p:nvSpPr>
          <p:cNvPr id="23" name="Text 21"/>
          <p:cNvSpPr/>
          <p:nvPr/>
        </p:nvSpPr>
        <p:spPr>
          <a:xfrm>
            <a:off x="4873752" y="299008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5394960" y="2990088"/>
            <a:ext cx="3383280" cy="347472"/>
          </a:xfrm>
          <a:prstGeom prst="rect">
            <a:avLst/>
          </a:prstGeom>
          <a:noFill/>
          <a:ln/>
        </p:spPr>
        <p:txBody>
          <a:bodyPr wrap="square" lIns="0" tIns="0" rIns="0" bIns="0" rtlCol="0" anchor="ctr"/>
          <a:lstStyle/>
          <a:p>
            <a:pPr marL="0" indent="0">
              <a:buNone/>
            </a:pPr>
            <a:r>
              <a:rPr lang="en-US" sz="1400" b="1" dirty="0">
                <a:solidFill>
                  <a:srgbClr val="C9A84C"/>
                </a:solidFill>
                <a:latin typeface="Georgia" pitchFamily="34" charset="0"/>
                <a:ea typeface="Georgia" pitchFamily="34" charset="-122"/>
                <a:cs typeface="Georgia" pitchFamily="34" charset="-120"/>
              </a:rPr>
              <a:t>Return &amp; Inventory Risk</a:t>
            </a:r>
            <a:endParaRPr lang="en-US" sz="1400" dirty="0"/>
          </a:p>
        </p:txBody>
      </p:sp>
      <p:sp>
        <p:nvSpPr>
          <p:cNvPr id="25" name="Text 23"/>
          <p:cNvSpPr/>
          <p:nvPr/>
        </p:nvSpPr>
        <p:spPr>
          <a:xfrm>
            <a:off x="4873752" y="3447288"/>
            <a:ext cx="3913632" cy="1234440"/>
          </a:xfrm>
          <a:prstGeom prst="rect">
            <a:avLst/>
          </a:prstGeom>
          <a:noFill/>
          <a:ln/>
        </p:spPr>
        <p:txBody>
          <a:bodyPr wrap="square" lIns="0" tIns="0" rIns="0" bIns="0" rtlCol="0" anchor="ctr"/>
          <a:lstStyle/>
          <a:p>
            <a:pPr marL="0" indent="0">
              <a:buNone/>
            </a:pPr>
            <a:r>
              <a:rPr lang="en-US" sz="1050" dirty="0">
                <a:solidFill>
                  <a:srgbClr val="3C3C3C"/>
                </a:solidFill>
                <a:latin typeface="Calibri" pitchFamily="34" charset="0"/>
                <a:ea typeface="Calibri" pitchFamily="34" charset="-122"/>
                <a:cs typeface="Calibri" pitchFamily="34" charset="-120"/>
              </a:rPr>
              <a:t>Skin Reaction and Wrong Product are the leading return reasons. Several products including Retinol Night Serum and SPF lines have fallen below reorder levels, risking stockouts.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847A"/>
          </a:solidFill>
          <a:ln w="12700">
            <a:solidFill>
              <a:srgbClr val="C9847A"/>
            </a:solidFill>
            <a:prstDash val="solid"/>
          </a:ln>
        </p:spPr>
      </p:sp>
      <p:sp>
        <p:nvSpPr>
          <p:cNvPr id="3" name="Shape 1"/>
          <p:cNvSpPr/>
          <p:nvPr/>
        </p:nvSpPr>
        <p:spPr>
          <a:xfrm>
            <a:off x="0" y="73152"/>
            <a:ext cx="1005840" cy="502920"/>
          </a:xfrm>
          <a:prstGeom prst="rect">
            <a:avLst/>
          </a:prstGeom>
          <a:solidFill>
            <a:srgbClr val="3D2B4F"/>
          </a:solidFill>
          <a:ln w="12700">
            <a:solidFill>
              <a:srgbClr val="3D2B4F"/>
            </a:solidFill>
            <a:prstDash val="solid"/>
          </a:ln>
        </p:spPr>
      </p:sp>
      <p:sp>
        <p:nvSpPr>
          <p:cNvPr id="4" name="Text 2"/>
          <p:cNvSpPr/>
          <p:nvPr/>
        </p:nvSpPr>
        <p:spPr>
          <a:xfrm>
            <a:off x="0" y="73152"/>
            <a:ext cx="1005840" cy="502920"/>
          </a:xfrm>
          <a:prstGeom prst="rect">
            <a:avLst/>
          </a:prstGeom>
          <a:noFill/>
          <a:ln/>
        </p:spPr>
        <p:txBody>
          <a:bodyPr wrap="square" lIns="0" tIns="0" rIns="0" bIns="0" rtlCol="0" anchor="ctr"/>
          <a:lstStyle/>
          <a:p>
            <a:pPr marL="0" indent="0" algn="ctr">
              <a:buNone/>
            </a:pPr>
            <a:r>
              <a:rPr lang="en-US" sz="1800" b="1" dirty="0">
                <a:solidFill>
                  <a:srgbClr val="C9847A"/>
                </a:solidFill>
                <a:latin typeface="Georgia" pitchFamily="34" charset="0"/>
                <a:ea typeface="Georgia" pitchFamily="34" charset="-122"/>
                <a:cs typeface="Georgia" pitchFamily="34" charset="-120"/>
              </a:rPr>
              <a:t>05</a:t>
            </a:r>
            <a:endParaRPr lang="en-US" sz="1800" dirty="0"/>
          </a:p>
        </p:txBody>
      </p:sp>
      <p:sp>
        <p:nvSpPr>
          <p:cNvPr id="5" name="Text 3"/>
          <p:cNvSpPr/>
          <p:nvPr/>
        </p:nvSpPr>
        <p:spPr>
          <a:xfrm>
            <a:off x="1143000" y="109728"/>
            <a:ext cx="7772400" cy="457200"/>
          </a:xfrm>
          <a:prstGeom prst="rect">
            <a:avLst/>
          </a:prstGeom>
          <a:noFill/>
          <a:ln/>
        </p:spPr>
        <p:txBody>
          <a:bodyPr wrap="square" lIns="0" tIns="0" rIns="0" bIns="0" rtlCol="0" anchor="ctr"/>
          <a:lstStyle/>
          <a:p>
            <a:pPr marL="0" indent="0">
              <a:buNone/>
            </a:pPr>
            <a:r>
              <a:rPr lang="en-US" sz="2400" b="1" dirty="0">
                <a:solidFill>
                  <a:srgbClr val="3D2B4F"/>
                </a:solidFill>
                <a:latin typeface="Georgia" pitchFamily="34" charset="0"/>
                <a:ea typeface="Georgia" pitchFamily="34" charset="-122"/>
                <a:cs typeface="Georgia" pitchFamily="34" charset="-120"/>
              </a:rPr>
              <a:t>Key Findings &amp; Recommendations</a:t>
            </a:r>
            <a:endParaRPr lang="en-US" sz="2400" dirty="0"/>
          </a:p>
        </p:txBody>
      </p:sp>
      <p:sp>
        <p:nvSpPr>
          <p:cNvPr id="6" name="Shape 4"/>
          <p:cNvSpPr/>
          <p:nvPr/>
        </p:nvSpPr>
        <p:spPr>
          <a:xfrm>
            <a:off x="274320" y="713232"/>
            <a:ext cx="4114800" cy="347472"/>
          </a:xfrm>
          <a:prstGeom prst="rect">
            <a:avLst/>
          </a:prstGeom>
          <a:solidFill>
            <a:srgbClr val="3D2B4F"/>
          </a:solidFill>
          <a:ln w="12700">
            <a:solidFill>
              <a:srgbClr val="3D2B4F"/>
            </a:solidFill>
            <a:prstDash val="solid"/>
          </a:ln>
        </p:spPr>
      </p:sp>
      <p:sp>
        <p:nvSpPr>
          <p:cNvPr id="7" name="Text 5"/>
          <p:cNvSpPr/>
          <p:nvPr/>
        </p:nvSpPr>
        <p:spPr>
          <a:xfrm>
            <a:off x="274320" y="713232"/>
            <a:ext cx="411480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KEY FINDINGS</a:t>
            </a:r>
            <a:endParaRPr lang="en-US" sz="1100" dirty="0"/>
          </a:p>
        </p:txBody>
      </p:sp>
      <p:sp>
        <p:nvSpPr>
          <p:cNvPr id="8" name="Shape 6"/>
          <p:cNvSpPr/>
          <p:nvPr/>
        </p:nvSpPr>
        <p:spPr>
          <a:xfrm>
            <a:off x="4754880" y="713232"/>
            <a:ext cx="4114800" cy="347472"/>
          </a:xfrm>
          <a:prstGeom prst="rect">
            <a:avLst/>
          </a:prstGeom>
          <a:solidFill>
            <a:srgbClr val="C9847A"/>
          </a:solidFill>
          <a:ln w="12700">
            <a:solidFill>
              <a:srgbClr val="C9847A"/>
            </a:solidFill>
            <a:prstDash val="solid"/>
          </a:ln>
        </p:spPr>
      </p:sp>
      <p:sp>
        <p:nvSpPr>
          <p:cNvPr id="9" name="Text 7"/>
          <p:cNvSpPr/>
          <p:nvPr/>
        </p:nvSpPr>
        <p:spPr>
          <a:xfrm>
            <a:off x="4754880" y="713232"/>
            <a:ext cx="411480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RECOMMENDATIONS</a:t>
            </a:r>
            <a:endParaRPr lang="en-US" sz="1100" dirty="0"/>
          </a:p>
        </p:txBody>
      </p:sp>
      <p:sp>
        <p:nvSpPr>
          <p:cNvPr id="10" name="Shape 8"/>
          <p:cNvSpPr/>
          <p:nvPr/>
        </p:nvSpPr>
        <p:spPr>
          <a:xfrm>
            <a:off x="274320" y="1170432"/>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1" name="Shape 9"/>
          <p:cNvSpPr/>
          <p:nvPr/>
        </p:nvSpPr>
        <p:spPr>
          <a:xfrm>
            <a:off x="384048" y="1335024"/>
            <a:ext cx="274320" cy="274320"/>
          </a:xfrm>
          <a:prstGeom prst="ellipse">
            <a:avLst/>
          </a:prstGeom>
          <a:solidFill>
            <a:srgbClr val="3D2B4F"/>
          </a:solidFill>
          <a:ln w="12700">
            <a:solidFill>
              <a:srgbClr val="3D2B4F"/>
            </a:solidFill>
            <a:prstDash val="solid"/>
          </a:ln>
        </p:spPr>
      </p:sp>
      <p:sp>
        <p:nvSpPr>
          <p:cNvPr id="12" name="Text 10"/>
          <p:cNvSpPr/>
          <p:nvPr/>
        </p:nvSpPr>
        <p:spPr>
          <a:xfrm>
            <a:off x="384048" y="133502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a:t>
            </a:r>
            <a:endParaRPr lang="en-US" sz="900" dirty="0"/>
          </a:p>
        </p:txBody>
      </p:sp>
      <p:sp>
        <p:nvSpPr>
          <p:cNvPr id="13" name="Text 11"/>
          <p:cNvSpPr/>
          <p:nvPr/>
        </p:nvSpPr>
        <p:spPr>
          <a:xfrm>
            <a:off x="749808" y="1243584"/>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Serums and Moisturizers drive the majority of GlowCo's revenue across all markets.</a:t>
            </a:r>
            <a:endParaRPr lang="en-US" sz="1000" dirty="0"/>
          </a:p>
        </p:txBody>
      </p:sp>
      <p:sp>
        <p:nvSpPr>
          <p:cNvPr id="14" name="Shape 12"/>
          <p:cNvSpPr/>
          <p:nvPr/>
        </p:nvSpPr>
        <p:spPr>
          <a:xfrm>
            <a:off x="274320" y="1920240"/>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5" name="Shape 13"/>
          <p:cNvSpPr/>
          <p:nvPr/>
        </p:nvSpPr>
        <p:spPr>
          <a:xfrm>
            <a:off x="384048" y="2084832"/>
            <a:ext cx="274320" cy="274320"/>
          </a:xfrm>
          <a:prstGeom prst="ellipse">
            <a:avLst/>
          </a:prstGeom>
          <a:solidFill>
            <a:srgbClr val="3D2B4F"/>
          </a:solidFill>
          <a:ln w="12700">
            <a:solidFill>
              <a:srgbClr val="3D2B4F"/>
            </a:solidFill>
            <a:prstDash val="solid"/>
          </a:ln>
        </p:spPr>
      </p:sp>
      <p:sp>
        <p:nvSpPr>
          <p:cNvPr id="16" name="Text 14"/>
          <p:cNvSpPr/>
          <p:nvPr/>
        </p:nvSpPr>
        <p:spPr>
          <a:xfrm>
            <a:off x="384048"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2</a:t>
            </a:r>
            <a:endParaRPr lang="en-US" sz="900" dirty="0"/>
          </a:p>
        </p:txBody>
      </p:sp>
      <p:sp>
        <p:nvSpPr>
          <p:cNvPr id="17" name="Text 15"/>
          <p:cNvSpPr/>
          <p:nvPr/>
        </p:nvSpPr>
        <p:spPr>
          <a:xfrm>
            <a:off x="749808" y="1993392"/>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November and December consistently generate the highest monthly revenue — a clear seasonal spike.</a:t>
            </a:r>
            <a:endParaRPr lang="en-US" sz="1000" dirty="0"/>
          </a:p>
        </p:txBody>
      </p:sp>
      <p:sp>
        <p:nvSpPr>
          <p:cNvPr id="18" name="Shape 16"/>
          <p:cNvSpPr/>
          <p:nvPr/>
        </p:nvSpPr>
        <p:spPr>
          <a:xfrm>
            <a:off x="274320" y="2670048"/>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19" name="Shape 17"/>
          <p:cNvSpPr/>
          <p:nvPr/>
        </p:nvSpPr>
        <p:spPr>
          <a:xfrm>
            <a:off x="384048" y="2834640"/>
            <a:ext cx="274320" cy="274320"/>
          </a:xfrm>
          <a:prstGeom prst="ellipse">
            <a:avLst/>
          </a:prstGeom>
          <a:solidFill>
            <a:srgbClr val="3D2B4F"/>
          </a:solidFill>
          <a:ln w="12700">
            <a:solidFill>
              <a:srgbClr val="3D2B4F"/>
            </a:solidFill>
            <a:prstDash val="solid"/>
          </a:ln>
        </p:spPr>
      </p:sp>
      <p:sp>
        <p:nvSpPr>
          <p:cNvPr id="20" name="Text 18"/>
          <p:cNvSpPr/>
          <p:nvPr/>
        </p:nvSpPr>
        <p:spPr>
          <a:xfrm>
            <a:off x="384048" y="283464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3</a:t>
            </a:r>
            <a:endParaRPr lang="en-US" sz="900" dirty="0"/>
          </a:p>
        </p:txBody>
      </p:sp>
      <p:sp>
        <p:nvSpPr>
          <p:cNvPr id="21" name="Text 19"/>
          <p:cNvSpPr/>
          <p:nvPr/>
        </p:nvSpPr>
        <p:spPr>
          <a:xfrm>
            <a:off x="749808" y="2743200"/>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74% customer retention rate signals strong brand loyalty among existing customers.</a:t>
            </a:r>
            <a:endParaRPr lang="en-US" sz="1000" dirty="0"/>
          </a:p>
        </p:txBody>
      </p:sp>
      <p:sp>
        <p:nvSpPr>
          <p:cNvPr id="22" name="Shape 20"/>
          <p:cNvSpPr/>
          <p:nvPr/>
        </p:nvSpPr>
        <p:spPr>
          <a:xfrm>
            <a:off x="274320" y="3419856"/>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3" name="Shape 21"/>
          <p:cNvSpPr/>
          <p:nvPr/>
        </p:nvSpPr>
        <p:spPr>
          <a:xfrm>
            <a:off x="384048" y="3584448"/>
            <a:ext cx="274320" cy="274320"/>
          </a:xfrm>
          <a:prstGeom prst="ellipse">
            <a:avLst/>
          </a:prstGeom>
          <a:solidFill>
            <a:srgbClr val="3D2B4F"/>
          </a:solidFill>
          <a:ln w="12700">
            <a:solidFill>
              <a:srgbClr val="3D2B4F"/>
            </a:solidFill>
            <a:prstDash val="solid"/>
          </a:ln>
        </p:spPr>
      </p:sp>
      <p:sp>
        <p:nvSpPr>
          <p:cNvPr id="24" name="Text 22"/>
          <p:cNvSpPr/>
          <p:nvPr/>
        </p:nvSpPr>
        <p:spPr>
          <a:xfrm>
            <a:off x="384048" y="358444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4</a:t>
            </a:r>
            <a:endParaRPr lang="en-US" sz="900" dirty="0"/>
          </a:p>
        </p:txBody>
      </p:sp>
      <p:sp>
        <p:nvSpPr>
          <p:cNvPr id="25" name="Text 23"/>
          <p:cNvSpPr/>
          <p:nvPr/>
        </p:nvSpPr>
        <p:spPr>
          <a:xfrm>
            <a:off x="749808" y="3493008"/>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Website is the top revenue channel; TikTok Shop is rapidly growing in contribution.</a:t>
            </a:r>
            <a:endParaRPr lang="en-US" sz="1000" dirty="0"/>
          </a:p>
        </p:txBody>
      </p:sp>
      <p:sp>
        <p:nvSpPr>
          <p:cNvPr id="26" name="Shape 24"/>
          <p:cNvSpPr/>
          <p:nvPr/>
        </p:nvSpPr>
        <p:spPr>
          <a:xfrm>
            <a:off x="274320" y="4169664"/>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27" name="Shape 25"/>
          <p:cNvSpPr/>
          <p:nvPr/>
        </p:nvSpPr>
        <p:spPr>
          <a:xfrm>
            <a:off x="384048" y="4334256"/>
            <a:ext cx="274320" cy="274320"/>
          </a:xfrm>
          <a:prstGeom prst="ellipse">
            <a:avLst/>
          </a:prstGeom>
          <a:solidFill>
            <a:srgbClr val="3D2B4F"/>
          </a:solidFill>
          <a:ln w="12700">
            <a:solidFill>
              <a:srgbClr val="3D2B4F"/>
            </a:solidFill>
            <a:prstDash val="solid"/>
          </a:ln>
        </p:spPr>
      </p:sp>
      <p:sp>
        <p:nvSpPr>
          <p:cNvPr id="28" name="Text 26"/>
          <p:cNvSpPr/>
          <p:nvPr/>
        </p:nvSpPr>
        <p:spPr>
          <a:xfrm>
            <a:off x="384048" y="433425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5</a:t>
            </a:r>
            <a:endParaRPr lang="en-US" sz="900" dirty="0"/>
          </a:p>
        </p:txBody>
      </p:sp>
      <p:sp>
        <p:nvSpPr>
          <p:cNvPr id="29" name="Text 27"/>
          <p:cNvSpPr/>
          <p:nvPr/>
        </p:nvSpPr>
        <p:spPr>
          <a:xfrm>
            <a:off x="749808" y="4242816"/>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Several SKUs have fallen below reorder level, posing a stockout risk in high-demand categories.</a:t>
            </a:r>
            <a:endParaRPr lang="en-US" sz="1000" dirty="0"/>
          </a:p>
        </p:txBody>
      </p:sp>
      <p:sp>
        <p:nvSpPr>
          <p:cNvPr id="30" name="Shape 28"/>
          <p:cNvSpPr/>
          <p:nvPr/>
        </p:nvSpPr>
        <p:spPr>
          <a:xfrm>
            <a:off x="4754880" y="1170432"/>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31" name="Shape 29"/>
          <p:cNvSpPr/>
          <p:nvPr/>
        </p:nvSpPr>
        <p:spPr>
          <a:xfrm>
            <a:off x="4864608" y="1335024"/>
            <a:ext cx="274320" cy="274320"/>
          </a:xfrm>
          <a:prstGeom prst="ellipse">
            <a:avLst/>
          </a:prstGeom>
          <a:solidFill>
            <a:srgbClr val="C9847A"/>
          </a:solidFill>
          <a:ln w="12700">
            <a:solidFill>
              <a:srgbClr val="C9847A"/>
            </a:solidFill>
            <a:prstDash val="solid"/>
          </a:ln>
        </p:spPr>
      </p:sp>
      <p:sp>
        <p:nvSpPr>
          <p:cNvPr id="32" name="Text 30"/>
          <p:cNvSpPr/>
          <p:nvPr/>
        </p:nvSpPr>
        <p:spPr>
          <a:xfrm>
            <a:off x="4864608" y="133502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3" name="Text 31"/>
          <p:cNvSpPr/>
          <p:nvPr/>
        </p:nvSpPr>
        <p:spPr>
          <a:xfrm>
            <a:off x="5230368" y="1243584"/>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Increase inventory for Serums and Moisturizers ahead of Q4 to prevent stockouts during peak season.</a:t>
            </a:r>
            <a:endParaRPr lang="en-US" sz="1000" dirty="0"/>
          </a:p>
        </p:txBody>
      </p:sp>
      <p:sp>
        <p:nvSpPr>
          <p:cNvPr id="34" name="Shape 32"/>
          <p:cNvSpPr/>
          <p:nvPr/>
        </p:nvSpPr>
        <p:spPr>
          <a:xfrm>
            <a:off x="4754880" y="1920240"/>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35" name="Shape 33"/>
          <p:cNvSpPr/>
          <p:nvPr/>
        </p:nvSpPr>
        <p:spPr>
          <a:xfrm>
            <a:off x="4864608" y="2084832"/>
            <a:ext cx="274320" cy="274320"/>
          </a:xfrm>
          <a:prstGeom prst="ellipse">
            <a:avLst/>
          </a:prstGeom>
          <a:solidFill>
            <a:srgbClr val="C9847A"/>
          </a:solidFill>
          <a:ln w="12700">
            <a:solidFill>
              <a:srgbClr val="C9847A"/>
            </a:solidFill>
            <a:prstDash val="solid"/>
          </a:ln>
        </p:spPr>
      </p:sp>
      <p:sp>
        <p:nvSpPr>
          <p:cNvPr id="36" name="Text 34"/>
          <p:cNvSpPr/>
          <p:nvPr/>
        </p:nvSpPr>
        <p:spPr>
          <a:xfrm>
            <a:off x="4864608" y="20848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5230368" y="1993392"/>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Launch targeted Black Friday and Christmas campaigns earlier in October to capture pre-season demand.</a:t>
            </a:r>
            <a:endParaRPr lang="en-US" sz="1000" dirty="0"/>
          </a:p>
        </p:txBody>
      </p:sp>
      <p:sp>
        <p:nvSpPr>
          <p:cNvPr id="38" name="Shape 36"/>
          <p:cNvSpPr/>
          <p:nvPr/>
        </p:nvSpPr>
        <p:spPr>
          <a:xfrm>
            <a:off x="4754880" y="2670048"/>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39" name="Shape 37"/>
          <p:cNvSpPr/>
          <p:nvPr/>
        </p:nvSpPr>
        <p:spPr>
          <a:xfrm>
            <a:off x="4864608" y="2834640"/>
            <a:ext cx="274320" cy="274320"/>
          </a:xfrm>
          <a:prstGeom prst="ellipse">
            <a:avLst/>
          </a:prstGeom>
          <a:solidFill>
            <a:srgbClr val="C9847A"/>
          </a:solidFill>
          <a:ln w="12700">
            <a:solidFill>
              <a:srgbClr val="C9847A"/>
            </a:solidFill>
            <a:prstDash val="solid"/>
          </a:ln>
        </p:spPr>
      </p:sp>
      <p:sp>
        <p:nvSpPr>
          <p:cNvPr id="40" name="Text 38"/>
          <p:cNvSpPr/>
          <p:nvPr/>
        </p:nvSpPr>
        <p:spPr>
          <a:xfrm>
            <a:off x="4864608"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1" name="Text 39"/>
          <p:cNvSpPr/>
          <p:nvPr/>
        </p:nvSpPr>
        <p:spPr>
          <a:xfrm>
            <a:off x="5230368" y="2743200"/>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Invest in VIP and Loyal segment loyalty programs to further increase retention and lifetime value.</a:t>
            </a:r>
            <a:endParaRPr lang="en-US" sz="1000" dirty="0"/>
          </a:p>
        </p:txBody>
      </p:sp>
      <p:sp>
        <p:nvSpPr>
          <p:cNvPr id="42" name="Shape 40"/>
          <p:cNvSpPr/>
          <p:nvPr/>
        </p:nvSpPr>
        <p:spPr>
          <a:xfrm>
            <a:off x="4754880" y="3419856"/>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43" name="Shape 41"/>
          <p:cNvSpPr/>
          <p:nvPr/>
        </p:nvSpPr>
        <p:spPr>
          <a:xfrm>
            <a:off x="4864608" y="3584448"/>
            <a:ext cx="274320" cy="274320"/>
          </a:xfrm>
          <a:prstGeom prst="ellipse">
            <a:avLst/>
          </a:prstGeom>
          <a:solidFill>
            <a:srgbClr val="C9847A"/>
          </a:solidFill>
          <a:ln w="12700">
            <a:solidFill>
              <a:srgbClr val="C9847A"/>
            </a:solidFill>
            <a:prstDash val="solid"/>
          </a:ln>
        </p:spPr>
      </p:sp>
      <p:sp>
        <p:nvSpPr>
          <p:cNvPr id="44" name="Text 42"/>
          <p:cNvSpPr/>
          <p:nvPr/>
        </p:nvSpPr>
        <p:spPr>
          <a:xfrm>
            <a:off x="4864608" y="358444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5" name="Text 43"/>
          <p:cNvSpPr/>
          <p:nvPr/>
        </p:nvSpPr>
        <p:spPr>
          <a:xfrm>
            <a:off x="5230368" y="3493008"/>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Allocate more marketing budget to TikTok Shop given its growing revenue contribution trend.</a:t>
            </a:r>
            <a:endParaRPr lang="en-US" sz="1000" dirty="0"/>
          </a:p>
        </p:txBody>
      </p:sp>
      <p:sp>
        <p:nvSpPr>
          <p:cNvPr id="46" name="Shape 44"/>
          <p:cNvSpPr/>
          <p:nvPr/>
        </p:nvSpPr>
        <p:spPr>
          <a:xfrm>
            <a:off x="4754880" y="4169664"/>
            <a:ext cx="4114800" cy="658368"/>
          </a:xfrm>
          <a:prstGeom prst="rect">
            <a:avLst/>
          </a:prstGeom>
          <a:solidFill>
            <a:srgbClr val="FFFFFF"/>
          </a:solidFill>
          <a:ln w="12700">
            <a:solidFill>
              <a:srgbClr val="E8C9C0"/>
            </a:solidFill>
            <a:prstDash val="solid"/>
          </a:ln>
          <a:effectLst>
            <a:outerShdw blurRad="101600" dist="38100" dir="8100000" algn="bl" rotWithShape="0">
              <a:srgbClr val="000000">
                <a:alpha val="12000"/>
              </a:srgbClr>
            </a:outerShdw>
          </a:effectLst>
        </p:spPr>
      </p:sp>
      <p:sp>
        <p:nvSpPr>
          <p:cNvPr id="47" name="Shape 45"/>
          <p:cNvSpPr/>
          <p:nvPr/>
        </p:nvSpPr>
        <p:spPr>
          <a:xfrm>
            <a:off x="4864608" y="4334256"/>
            <a:ext cx="274320" cy="274320"/>
          </a:xfrm>
          <a:prstGeom prst="ellipse">
            <a:avLst/>
          </a:prstGeom>
          <a:solidFill>
            <a:srgbClr val="C9847A"/>
          </a:solidFill>
          <a:ln w="12700">
            <a:solidFill>
              <a:srgbClr val="C9847A"/>
            </a:solidFill>
            <a:prstDash val="solid"/>
          </a:ln>
        </p:spPr>
      </p:sp>
      <p:sp>
        <p:nvSpPr>
          <p:cNvPr id="48" name="Text 46"/>
          <p:cNvSpPr/>
          <p:nvPr/>
        </p:nvSpPr>
        <p:spPr>
          <a:xfrm>
            <a:off x="4864608" y="433425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9" name="Text 47"/>
          <p:cNvSpPr/>
          <p:nvPr/>
        </p:nvSpPr>
        <p:spPr>
          <a:xfrm>
            <a:off x="5230368" y="4242816"/>
            <a:ext cx="3520440" cy="512064"/>
          </a:xfrm>
          <a:prstGeom prst="rect">
            <a:avLst/>
          </a:prstGeom>
          <a:noFill/>
          <a:ln/>
        </p:spPr>
        <p:txBody>
          <a:bodyPr wrap="square" lIns="0" tIns="0" rIns="0" bIns="0" rtlCol="0" anchor="ctr"/>
          <a:lstStyle/>
          <a:p>
            <a:pPr marL="0" indent="0">
              <a:buNone/>
            </a:pPr>
            <a:r>
              <a:rPr lang="en-US" sz="1000" dirty="0">
                <a:solidFill>
                  <a:srgbClr val="3C3C3C"/>
                </a:solidFill>
                <a:latin typeface="Calibri" pitchFamily="34" charset="0"/>
                <a:ea typeface="Calibri" pitchFamily="34" charset="-122"/>
                <a:cs typeface="Calibri" pitchFamily="34" charset="-120"/>
              </a:rPr>
              <a:t>Review product descriptions and formulations for categories with high Skin Reaction return rates.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D2B4F"/>
        </a:solidFill>
        <a:effectLst/>
      </p:bgPr>
    </p:bg>
    <p:spTree>
      <p:nvGrpSpPr>
        <p:cNvPr id="1" name=""/>
        <p:cNvGrpSpPr/>
        <p:nvPr/>
      </p:nvGrpSpPr>
      <p:grpSpPr>
        <a:xfrm>
          <a:off x="0" y="0"/>
          <a:ext cx="0" cy="0"/>
          <a:chOff x="0" y="0"/>
          <a:chExt cx="0" cy="0"/>
        </a:xfrm>
      </p:grpSpPr>
      <p:sp>
        <p:nvSpPr>
          <p:cNvPr id="2" name="Shape 0"/>
          <p:cNvSpPr/>
          <p:nvPr/>
        </p:nvSpPr>
        <p:spPr>
          <a:xfrm>
            <a:off x="6400800" y="-914400"/>
            <a:ext cx="4114800" cy="4114800"/>
          </a:xfrm>
          <a:prstGeom prst="ellipse">
            <a:avLst/>
          </a:prstGeom>
          <a:solidFill>
            <a:srgbClr val="6B4F7A"/>
          </a:solidFill>
          <a:ln w="12700">
            <a:solidFill>
              <a:srgbClr val="6B4F7A"/>
            </a:solidFill>
            <a:prstDash val="solid"/>
          </a:ln>
        </p:spPr>
      </p:sp>
      <p:sp>
        <p:nvSpPr>
          <p:cNvPr id="3" name="Shape 1"/>
          <p:cNvSpPr/>
          <p:nvPr/>
        </p:nvSpPr>
        <p:spPr>
          <a:xfrm>
            <a:off x="-731520" y="3200400"/>
            <a:ext cx="2743200" cy="2743200"/>
          </a:xfrm>
          <a:prstGeom prst="ellipse">
            <a:avLst/>
          </a:prstGeom>
          <a:solidFill>
            <a:srgbClr val="6B4F7A"/>
          </a:solidFill>
          <a:ln w="12700">
            <a:solidFill>
              <a:srgbClr val="6B4F7A"/>
            </a:solidFill>
            <a:prstDash val="solid"/>
          </a:ln>
        </p:spPr>
      </p:sp>
      <p:sp>
        <p:nvSpPr>
          <p:cNvPr id="4" name="Shape 2"/>
          <p:cNvSpPr/>
          <p:nvPr/>
        </p:nvSpPr>
        <p:spPr>
          <a:xfrm>
            <a:off x="7498080" y="3474720"/>
            <a:ext cx="1371600" cy="1371600"/>
          </a:xfrm>
          <a:prstGeom prst="ellipse">
            <a:avLst/>
          </a:prstGeom>
          <a:solidFill>
            <a:srgbClr val="C9847A"/>
          </a:solidFill>
          <a:ln w="12700">
            <a:solidFill>
              <a:srgbClr val="C9847A"/>
            </a:solidFill>
            <a:prstDash val="solid"/>
          </a:ln>
        </p:spPr>
      </p:sp>
      <p:sp>
        <p:nvSpPr>
          <p:cNvPr id="5" name="Shape 3"/>
          <p:cNvSpPr/>
          <p:nvPr/>
        </p:nvSpPr>
        <p:spPr>
          <a:xfrm>
            <a:off x="0" y="0"/>
            <a:ext cx="164592" cy="5143500"/>
          </a:xfrm>
          <a:prstGeom prst="rect">
            <a:avLst/>
          </a:prstGeom>
          <a:solidFill>
            <a:srgbClr val="C9847A"/>
          </a:solidFill>
          <a:ln w="12700">
            <a:solidFill>
              <a:srgbClr val="C9847A"/>
            </a:solidFill>
            <a:prstDash val="solid"/>
          </a:ln>
        </p:spPr>
      </p:sp>
      <p:sp>
        <p:nvSpPr>
          <p:cNvPr id="6" name="Text 4"/>
          <p:cNvSpPr/>
          <p:nvPr/>
        </p:nvSpPr>
        <p:spPr>
          <a:xfrm>
            <a:off x="457200" y="914400"/>
            <a:ext cx="6400800" cy="1005840"/>
          </a:xfrm>
          <a:prstGeom prst="rect">
            <a:avLst/>
          </a:prstGeom>
          <a:noFill/>
          <a:ln/>
        </p:spPr>
        <p:txBody>
          <a:bodyPr wrap="square" lIns="0" tIns="0" rIns="0" bIns="0" rtlCol="0" anchor="ctr"/>
          <a:lstStyle/>
          <a:p>
            <a:pPr marL="0" indent="0">
              <a:buNone/>
            </a:pPr>
            <a:r>
              <a:rPr lang="en-US" sz="5800" b="1" dirty="0">
                <a:solidFill>
                  <a:srgbClr val="FFFFFF"/>
                </a:solidFill>
                <a:latin typeface="Georgia" pitchFamily="34" charset="0"/>
                <a:ea typeface="Georgia" pitchFamily="34" charset="-122"/>
                <a:cs typeface="Georgia" pitchFamily="34" charset="-120"/>
              </a:rPr>
              <a:t>Thank You</a:t>
            </a:r>
            <a:endParaRPr lang="en-US" sz="5800" dirty="0"/>
          </a:p>
        </p:txBody>
      </p:sp>
      <p:sp>
        <p:nvSpPr>
          <p:cNvPr id="7" name="Text 5"/>
          <p:cNvSpPr/>
          <p:nvPr/>
        </p:nvSpPr>
        <p:spPr>
          <a:xfrm>
            <a:off x="457200" y="1920240"/>
            <a:ext cx="6858000" cy="502920"/>
          </a:xfrm>
          <a:prstGeom prst="rect">
            <a:avLst/>
          </a:prstGeom>
          <a:noFill/>
          <a:ln/>
        </p:spPr>
        <p:txBody>
          <a:bodyPr wrap="square" lIns="0" tIns="0" rIns="0" bIns="0" rtlCol="0" anchor="ctr"/>
          <a:lstStyle/>
          <a:p>
            <a:pPr marL="0" indent="0">
              <a:buNone/>
            </a:pPr>
            <a:r>
              <a:rPr lang="en-US" sz="1600" i="1" dirty="0">
                <a:solidFill>
                  <a:srgbClr val="E8C9C0"/>
                </a:solidFill>
                <a:latin typeface="Georgia" pitchFamily="34" charset="0"/>
                <a:ea typeface="Georgia" pitchFamily="34" charset="-122"/>
                <a:cs typeface="Georgia" pitchFamily="34" charset="-120"/>
              </a:rPr>
              <a:t>Turning data into growth, one insight at a time.</a:t>
            </a:r>
            <a:endParaRPr lang="en-US" sz="1600" dirty="0"/>
          </a:p>
        </p:txBody>
      </p:sp>
      <p:sp>
        <p:nvSpPr>
          <p:cNvPr id="8" name="Shape 6"/>
          <p:cNvSpPr/>
          <p:nvPr/>
        </p:nvSpPr>
        <p:spPr>
          <a:xfrm>
            <a:off x="457200" y="2514600"/>
            <a:ext cx="3657600" cy="27432"/>
          </a:xfrm>
          <a:prstGeom prst="rect">
            <a:avLst/>
          </a:prstGeom>
          <a:solidFill>
            <a:srgbClr val="C9847A"/>
          </a:solidFill>
          <a:ln w="12700">
            <a:solidFill>
              <a:srgbClr val="C9847A"/>
            </a:solidFill>
            <a:prstDash val="solid"/>
          </a:ln>
        </p:spPr>
      </p:sp>
      <p:sp>
        <p:nvSpPr>
          <p:cNvPr id="9" name="Text 7"/>
          <p:cNvSpPr/>
          <p:nvPr/>
        </p:nvSpPr>
        <p:spPr>
          <a:xfrm>
            <a:off x="457200" y="2697480"/>
            <a:ext cx="4572000" cy="34747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Joan Nzuma</a:t>
            </a:r>
            <a:endParaRPr lang="en-US" sz="1600" dirty="0"/>
          </a:p>
        </p:txBody>
      </p:sp>
      <p:sp>
        <p:nvSpPr>
          <p:cNvPr id="10" name="Text 8"/>
          <p:cNvSpPr/>
          <p:nvPr/>
        </p:nvSpPr>
        <p:spPr>
          <a:xfrm>
            <a:off x="457200" y="3063240"/>
            <a:ext cx="5486400" cy="274320"/>
          </a:xfrm>
          <a:prstGeom prst="rect">
            <a:avLst/>
          </a:prstGeom>
          <a:noFill/>
          <a:ln/>
        </p:spPr>
        <p:txBody>
          <a:bodyPr wrap="square" lIns="0" tIns="0" rIns="0" bIns="0" rtlCol="0" anchor="ctr"/>
          <a:lstStyle/>
          <a:p>
            <a:pPr marL="0" indent="0">
              <a:buNone/>
            </a:pPr>
            <a:r>
              <a:rPr lang="en-US" sz="1200" dirty="0">
                <a:solidFill>
                  <a:srgbClr val="E8C9C0"/>
                </a:solidFill>
                <a:latin typeface="Calibri" pitchFamily="34" charset="0"/>
                <a:ea typeface="Calibri" pitchFamily="34" charset="-122"/>
                <a:cs typeface="Calibri" pitchFamily="34" charset="-120"/>
              </a:rPr>
              <a:t>Data Analyst  |  Excel · Power BI · SQL</a:t>
            </a:r>
            <a:endParaRPr lang="en-US" sz="1200" dirty="0"/>
          </a:p>
        </p:txBody>
      </p:sp>
      <p:sp>
        <p:nvSpPr>
          <p:cNvPr id="11" name="Shape 9"/>
          <p:cNvSpPr/>
          <p:nvPr/>
        </p:nvSpPr>
        <p:spPr>
          <a:xfrm>
            <a:off x="457200" y="4114800"/>
            <a:ext cx="1463040" cy="320040"/>
          </a:xfrm>
          <a:prstGeom prst="rect">
            <a:avLst/>
          </a:prstGeom>
          <a:solidFill>
            <a:srgbClr val="6B4F7A"/>
          </a:solidFill>
          <a:ln w="12700">
            <a:solidFill>
              <a:srgbClr val="C9847A"/>
            </a:solidFill>
            <a:prstDash val="solid"/>
          </a:ln>
        </p:spPr>
      </p:sp>
      <p:sp>
        <p:nvSpPr>
          <p:cNvPr id="12" name="Text 10"/>
          <p:cNvSpPr/>
          <p:nvPr/>
        </p:nvSpPr>
        <p:spPr>
          <a:xfrm>
            <a:off x="457200" y="4114800"/>
            <a:ext cx="1463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Power BI</a:t>
            </a:r>
            <a:endParaRPr lang="en-US" sz="900" dirty="0"/>
          </a:p>
        </p:txBody>
      </p:sp>
      <p:sp>
        <p:nvSpPr>
          <p:cNvPr id="13" name="Shape 11"/>
          <p:cNvSpPr/>
          <p:nvPr/>
        </p:nvSpPr>
        <p:spPr>
          <a:xfrm>
            <a:off x="2084832" y="4114800"/>
            <a:ext cx="1463040" cy="320040"/>
          </a:xfrm>
          <a:prstGeom prst="rect">
            <a:avLst/>
          </a:prstGeom>
          <a:solidFill>
            <a:srgbClr val="6B4F7A"/>
          </a:solidFill>
          <a:ln w="12700">
            <a:solidFill>
              <a:srgbClr val="C9847A"/>
            </a:solidFill>
            <a:prstDash val="solid"/>
          </a:ln>
        </p:spPr>
      </p:sp>
      <p:sp>
        <p:nvSpPr>
          <p:cNvPr id="14" name="Text 12"/>
          <p:cNvSpPr/>
          <p:nvPr/>
        </p:nvSpPr>
        <p:spPr>
          <a:xfrm>
            <a:off x="2084832" y="4114800"/>
            <a:ext cx="1463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DAX</a:t>
            </a:r>
            <a:endParaRPr lang="en-US" sz="900" dirty="0"/>
          </a:p>
        </p:txBody>
      </p:sp>
      <p:sp>
        <p:nvSpPr>
          <p:cNvPr id="15" name="Shape 13"/>
          <p:cNvSpPr/>
          <p:nvPr/>
        </p:nvSpPr>
        <p:spPr>
          <a:xfrm>
            <a:off x="3712464" y="4114800"/>
            <a:ext cx="1463040" cy="320040"/>
          </a:xfrm>
          <a:prstGeom prst="rect">
            <a:avLst/>
          </a:prstGeom>
          <a:solidFill>
            <a:srgbClr val="6B4F7A"/>
          </a:solidFill>
          <a:ln w="12700">
            <a:solidFill>
              <a:srgbClr val="C9847A"/>
            </a:solidFill>
            <a:prstDash val="solid"/>
          </a:ln>
        </p:spPr>
      </p:sp>
      <p:sp>
        <p:nvSpPr>
          <p:cNvPr id="16" name="Text 14"/>
          <p:cNvSpPr/>
          <p:nvPr/>
        </p:nvSpPr>
        <p:spPr>
          <a:xfrm>
            <a:off x="3712464" y="4114800"/>
            <a:ext cx="1463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Excel</a:t>
            </a:r>
            <a:endParaRPr lang="en-US" sz="900" dirty="0"/>
          </a:p>
        </p:txBody>
      </p:sp>
      <p:sp>
        <p:nvSpPr>
          <p:cNvPr id="17" name="Shape 15"/>
          <p:cNvSpPr/>
          <p:nvPr/>
        </p:nvSpPr>
        <p:spPr>
          <a:xfrm>
            <a:off x="5340096" y="4114800"/>
            <a:ext cx="1463040" cy="320040"/>
          </a:xfrm>
          <a:prstGeom prst="rect">
            <a:avLst/>
          </a:prstGeom>
          <a:solidFill>
            <a:srgbClr val="6B4F7A"/>
          </a:solidFill>
          <a:ln w="12700">
            <a:solidFill>
              <a:srgbClr val="C9847A"/>
            </a:solidFill>
            <a:prstDash val="solid"/>
          </a:ln>
        </p:spPr>
      </p:sp>
      <p:sp>
        <p:nvSpPr>
          <p:cNvPr id="18" name="Text 16"/>
          <p:cNvSpPr/>
          <p:nvPr/>
        </p:nvSpPr>
        <p:spPr>
          <a:xfrm>
            <a:off x="5340096" y="4114800"/>
            <a:ext cx="1463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SQL</a:t>
            </a:r>
            <a:endParaRPr lang="en-US" sz="900" dirty="0"/>
          </a:p>
        </p:txBody>
      </p:sp>
      <p:sp>
        <p:nvSpPr>
          <p:cNvPr id="19" name="Shape 17"/>
          <p:cNvSpPr/>
          <p:nvPr/>
        </p:nvSpPr>
        <p:spPr>
          <a:xfrm>
            <a:off x="6967728" y="4114800"/>
            <a:ext cx="1463040" cy="320040"/>
          </a:xfrm>
          <a:prstGeom prst="rect">
            <a:avLst/>
          </a:prstGeom>
          <a:solidFill>
            <a:srgbClr val="6B4F7A"/>
          </a:solidFill>
          <a:ln w="12700">
            <a:solidFill>
              <a:srgbClr val="C9847A"/>
            </a:solidFill>
            <a:prstDash val="solid"/>
          </a:ln>
        </p:spPr>
      </p:sp>
      <p:sp>
        <p:nvSpPr>
          <p:cNvPr id="20" name="Text 18"/>
          <p:cNvSpPr/>
          <p:nvPr/>
        </p:nvSpPr>
        <p:spPr>
          <a:xfrm>
            <a:off x="6967728" y="4114800"/>
            <a:ext cx="1463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 Modeling</a:t>
            </a:r>
            <a:endParaRPr lang="en-US" sz="900" dirty="0"/>
          </a:p>
        </p:txBody>
      </p:sp>
      <p:sp>
        <p:nvSpPr>
          <p:cNvPr id="21" name="Text 19"/>
          <p:cNvSpPr/>
          <p:nvPr/>
        </p:nvSpPr>
        <p:spPr>
          <a:xfrm>
            <a:off x="457200" y="4754880"/>
            <a:ext cx="8229600" cy="228600"/>
          </a:xfrm>
          <a:prstGeom prst="rect">
            <a:avLst/>
          </a:prstGeom>
          <a:noFill/>
          <a:ln/>
        </p:spPr>
        <p:txBody>
          <a:bodyPr wrap="square" lIns="0" tIns="0" rIns="0" bIns="0" rtlCol="0" anchor="ctr"/>
          <a:lstStyle/>
          <a:p>
            <a:pPr marL="0" indent="0">
              <a:buNone/>
            </a:pPr>
            <a:r>
              <a:rPr lang="en-US" sz="800" dirty="0">
                <a:solidFill>
                  <a:srgbClr val="6B4F7A"/>
                </a:solidFill>
                <a:latin typeface="Calibri" pitchFamily="34" charset="0"/>
                <a:ea typeface="Calibri" pitchFamily="34" charset="-122"/>
                <a:cs typeface="Calibri" pitchFamily="34" charset="-120"/>
              </a:rPr>
              <a:t>GlowCo E-Commerce Analytics  |  2023 — 2024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819</Words>
  <Application>Microsoft Office PowerPoint</Application>
  <PresentationFormat>On-screen Show (16:9)</PresentationFormat>
  <Paragraphs>146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GlowCo E-Commerce Analytics</dc:title>
  <dc:subject>PptxGenJS Presentation</dc:subject>
  <dc:creator>Joan Nzuma</dc:creator>
  <cp:lastModifiedBy>Joan Nzuma</cp:lastModifiedBy>
  <cp:revision>2</cp:revision>
  <dcterms:created xsi:type="dcterms:W3CDTF">2026-05-04T07:03:04Z</dcterms:created>
  <dcterms:modified xsi:type="dcterms:W3CDTF">2026-05-04T07:10:32Z</dcterms:modified>
</cp:coreProperties>
</file>